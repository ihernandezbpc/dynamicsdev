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handoutMasterIdLst>
    <p:handoutMasterId r:id="rId42"/>
  </p:handoutMasterIdLst>
  <p:sldIdLst>
    <p:sldId id="265" r:id="rId2"/>
    <p:sldId id="321" r:id="rId3"/>
    <p:sldId id="311" r:id="rId4"/>
    <p:sldId id="323" r:id="rId5"/>
    <p:sldId id="324" r:id="rId6"/>
    <p:sldId id="325" r:id="rId7"/>
    <p:sldId id="326" r:id="rId8"/>
    <p:sldId id="322" r:id="rId9"/>
    <p:sldId id="327" r:id="rId10"/>
    <p:sldId id="328" r:id="rId11"/>
    <p:sldId id="329" r:id="rId12"/>
    <p:sldId id="330" r:id="rId13"/>
    <p:sldId id="332" r:id="rId14"/>
    <p:sldId id="334" r:id="rId15"/>
    <p:sldId id="335" r:id="rId16"/>
    <p:sldId id="336" r:id="rId17"/>
    <p:sldId id="333" r:id="rId18"/>
    <p:sldId id="337" r:id="rId19"/>
    <p:sldId id="358" r:id="rId20"/>
    <p:sldId id="338" r:id="rId21"/>
    <p:sldId id="340" r:id="rId22"/>
    <p:sldId id="341" r:id="rId23"/>
    <p:sldId id="342" r:id="rId24"/>
    <p:sldId id="343" r:id="rId25"/>
    <p:sldId id="344" r:id="rId26"/>
    <p:sldId id="345" r:id="rId27"/>
    <p:sldId id="346" r:id="rId28"/>
    <p:sldId id="347" r:id="rId29"/>
    <p:sldId id="359" r:id="rId30"/>
    <p:sldId id="349" r:id="rId31"/>
    <p:sldId id="348" r:id="rId32"/>
    <p:sldId id="350" r:id="rId33"/>
    <p:sldId id="351" r:id="rId34"/>
    <p:sldId id="360" r:id="rId35"/>
    <p:sldId id="352" r:id="rId36"/>
    <p:sldId id="353" r:id="rId37"/>
    <p:sldId id="354" r:id="rId38"/>
    <p:sldId id="355" r:id="rId39"/>
    <p:sldId id="356" r:id="rId40"/>
  </p:sldIdLst>
  <p:sldSz cx="12188825" cy="6858000"/>
  <p:notesSz cx="6858000" cy="9144000"/>
  <p:custDataLst>
    <p:tags r:id="rId4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E330F1-ADB2-454D-B1F2-AF574EA63A7B}" v="3" dt="2020-10-18T23:15:00.8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971" autoAdjust="0"/>
    <p:restoredTop sz="94629" autoAdjust="0"/>
  </p:normalViewPr>
  <p:slideViewPr>
    <p:cSldViewPr showGuides="1">
      <p:cViewPr varScale="1">
        <p:scale>
          <a:sx n="72" d="100"/>
          <a:sy n="72" d="100"/>
        </p:scale>
        <p:origin x="702" y="66"/>
      </p:cViewPr>
      <p:guideLst>
        <p:guide pos="3839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1986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gs" Target="tags/tag1.xml"/><Relationship Id="rId48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ván Hernández Díaz" userId="c172ba01-29d3-44fa-9905-eb9d062710e0" providerId="ADAL" clId="{AD866BD4-4ED1-4EB5-A7DB-E6BABB1B3CA9}"/>
    <pc:docChg chg="undo addSld modSld">
      <pc:chgData name="Iván Hernández Díaz" userId="c172ba01-29d3-44fa-9905-eb9d062710e0" providerId="ADAL" clId="{AD866BD4-4ED1-4EB5-A7DB-E6BABB1B3CA9}" dt="2018-11-07T15:16:50.948" v="41" actId="20577"/>
      <pc:docMkLst>
        <pc:docMk/>
      </pc:docMkLst>
      <pc:sldChg chg="modSp">
        <pc:chgData name="Iván Hernández Díaz" userId="c172ba01-29d3-44fa-9905-eb9d062710e0" providerId="ADAL" clId="{AD866BD4-4ED1-4EB5-A7DB-E6BABB1B3CA9}" dt="2018-11-06T15:02:44.909" v="2" actId="20577"/>
        <pc:sldMkLst>
          <pc:docMk/>
          <pc:sldMk cId="3026132893" sldId="332"/>
        </pc:sldMkLst>
        <pc:spChg chg="mod">
          <ac:chgData name="Iván Hernández Díaz" userId="c172ba01-29d3-44fa-9905-eb9d062710e0" providerId="ADAL" clId="{AD866BD4-4ED1-4EB5-A7DB-E6BABB1B3CA9}" dt="2018-11-06T15:02:44.909" v="2" actId="20577"/>
          <ac:spMkLst>
            <pc:docMk/>
            <pc:sldMk cId="3026132893" sldId="332"/>
            <ac:spMk id="6" creationId="{8BF88B23-7EC0-4E17-AC63-C785ECFD8EE9}"/>
          </ac:spMkLst>
        </pc:spChg>
      </pc:sldChg>
      <pc:sldChg chg="modSp">
        <pc:chgData name="Iván Hernández Díaz" userId="c172ba01-29d3-44fa-9905-eb9d062710e0" providerId="ADAL" clId="{AD866BD4-4ED1-4EB5-A7DB-E6BABB1B3CA9}" dt="2018-11-07T15:04:45.029" v="4" actId="1076"/>
        <pc:sldMkLst>
          <pc:docMk/>
          <pc:sldMk cId="1042678680" sldId="340"/>
        </pc:sldMkLst>
        <pc:spChg chg="mod">
          <ac:chgData name="Iván Hernández Díaz" userId="c172ba01-29d3-44fa-9905-eb9d062710e0" providerId="ADAL" clId="{AD866BD4-4ED1-4EB5-A7DB-E6BABB1B3CA9}" dt="2018-11-07T15:04:45.029" v="4" actId="1076"/>
          <ac:spMkLst>
            <pc:docMk/>
            <pc:sldMk cId="1042678680" sldId="340"/>
            <ac:spMk id="13" creationId="{00000000-0000-0000-0000-000000000000}"/>
          </ac:spMkLst>
        </pc:spChg>
      </pc:sldChg>
      <pc:sldChg chg="modSp add">
        <pc:chgData name="Iván Hernández Díaz" userId="c172ba01-29d3-44fa-9905-eb9d062710e0" providerId="ADAL" clId="{AD866BD4-4ED1-4EB5-A7DB-E6BABB1B3CA9}" dt="2018-11-07T15:16:50.948" v="41" actId="20577"/>
        <pc:sldMkLst>
          <pc:docMk/>
          <pc:sldMk cId="1676786917" sldId="358"/>
        </pc:sldMkLst>
        <pc:spChg chg="mod">
          <ac:chgData name="Iván Hernández Díaz" userId="c172ba01-29d3-44fa-9905-eb9d062710e0" providerId="ADAL" clId="{AD866BD4-4ED1-4EB5-A7DB-E6BABB1B3CA9}" dt="2018-11-07T15:15:24.756" v="10"/>
          <ac:spMkLst>
            <pc:docMk/>
            <pc:sldMk cId="1676786917" sldId="358"/>
            <ac:spMk id="2" creationId="{FB18AB13-3931-45AA-A985-585A41452535}"/>
          </ac:spMkLst>
        </pc:spChg>
        <pc:spChg chg="mod">
          <ac:chgData name="Iván Hernández Díaz" userId="c172ba01-29d3-44fa-9905-eb9d062710e0" providerId="ADAL" clId="{AD866BD4-4ED1-4EB5-A7DB-E6BABB1B3CA9}" dt="2018-11-07T15:16:50.948" v="41" actId="20577"/>
          <ac:spMkLst>
            <pc:docMk/>
            <pc:sldMk cId="1676786917" sldId="358"/>
            <ac:spMk id="3" creationId="{E9B5D247-1F10-44F5-900A-858DE70D3328}"/>
          </ac:spMkLst>
        </pc:spChg>
      </pc:sldChg>
    </pc:docChg>
  </pc:docChgLst>
  <pc:docChgLst>
    <pc:chgData name="Iván de Jesús Hernández Díaz" userId="c172ba01-29d3-44fa-9905-eb9d062710e0" providerId="ADAL" clId="{57AF075E-1943-41CB-853F-DDC2D902D20E}"/>
    <pc:docChg chg="custSel addSld delSld modSld">
      <pc:chgData name="Iván de Jesús Hernández Díaz" userId="c172ba01-29d3-44fa-9905-eb9d062710e0" providerId="ADAL" clId="{57AF075E-1943-41CB-853F-DDC2D902D20E}" dt="2020-10-05T16:17:44.859" v="166" actId="47"/>
      <pc:docMkLst>
        <pc:docMk/>
      </pc:docMkLst>
      <pc:sldChg chg="del">
        <pc:chgData name="Iván de Jesús Hernández Díaz" userId="c172ba01-29d3-44fa-9905-eb9d062710e0" providerId="ADAL" clId="{57AF075E-1943-41CB-853F-DDC2D902D20E}" dt="2020-10-05T16:17:44.859" v="166" actId="47"/>
        <pc:sldMkLst>
          <pc:docMk/>
          <pc:sldMk cId="379252243" sldId="357"/>
        </pc:sldMkLst>
      </pc:sldChg>
      <pc:sldChg chg="modSp mod">
        <pc:chgData name="Iván de Jesús Hernández Díaz" userId="c172ba01-29d3-44fa-9905-eb9d062710e0" providerId="ADAL" clId="{57AF075E-1943-41CB-853F-DDC2D902D20E}" dt="2020-10-05T16:08:48.657" v="2" actId="27636"/>
        <pc:sldMkLst>
          <pc:docMk/>
          <pc:sldMk cId="1676786917" sldId="358"/>
        </pc:sldMkLst>
        <pc:spChg chg="mod">
          <ac:chgData name="Iván de Jesús Hernández Díaz" userId="c172ba01-29d3-44fa-9905-eb9d062710e0" providerId="ADAL" clId="{57AF075E-1943-41CB-853F-DDC2D902D20E}" dt="2020-10-05T16:08:48.657" v="2" actId="27636"/>
          <ac:spMkLst>
            <pc:docMk/>
            <pc:sldMk cId="1676786917" sldId="358"/>
            <ac:spMk id="3" creationId="{E9B5D247-1F10-44F5-900A-858DE70D3328}"/>
          </ac:spMkLst>
        </pc:spChg>
      </pc:sldChg>
      <pc:sldChg chg="modSp add mod">
        <pc:chgData name="Iván de Jesús Hernández Díaz" userId="c172ba01-29d3-44fa-9905-eb9d062710e0" providerId="ADAL" clId="{57AF075E-1943-41CB-853F-DDC2D902D20E}" dt="2020-10-05T16:12:25.572" v="165"/>
        <pc:sldMkLst>
          <pc:docMk/>
          <pc:sldMk cId="4073122047" sldId="359"/>
        </pc:sldMkLst>
        <pc:spChg chg="mod">
          <ac:chgData name="Iván de Jesús Hernández Díaz" userId="c172ba01-29d3-44fa-9905-eb9d062710e0" providerId="ADAL" clId="{57AF075E-1943-41CB-853F-DDC2D902D20E}" dt="2020-10-05T16:09:51.384" v="4" actId="20577"/>
          <ac:spMkLst>
            <pc:docMk/>
            <pc:sldMk cId="4073122047" sldId="359"/>
            <ac:spMk id="2" creationId="{FB18AB13-3931-45AA-A985-585A41452535}"/>
          </ac:spMkLst>
        </pc:spChg>
        <pc:spChg chg="mod">
          <ac:chgData name="Iván de Jesús Hernández Díaz" userId="c172ba01-29d3-44fa-9905-eb9d062710e0" providerId="ADAL" clId="{57AF075E-1943-41CB-853F-DDC2D902D20E}" dt="2020-10-05T16:12:25.572" v="165"/>
          <ac:spMkLst>
            <pc:docMk/>
            <pc:sldMk cId="4073122047" sldId="359"/>
            <ac:spMk id="3" creationId="{E9B5D247-1F10-44F5-900A-858DE70D3328}"/>
          </ac:spMkLst>
        </pc:spChg>
      </pc:sldChg>
    </pc:docChg>
  </pc:docChgLst>
  <pc:docChgLst>
    <pc:chgData name="Iván de Jesús Hernández Díaz" userId="c172ba01-29d3-44fa-9905-eb9d062710e0" providerId="ADAL" clId="{BEE330F1-ADB2-454D-B1F2-AF574EA63A7B}"/>
    <pc:docChg chg="custSel addSld modSld sldOrd">
      <pc:chgData name="Iván de Jesús Hernández Díaz" userId="c172ba01-29d3-44fa-9905-eb9d062710e0" providerId="ADAL" clId="{BEE330F1-ADB2-454D-B1F2-AF574EA63A7B}" dt="2020-10-18T23:15:04.086" v="144" actId="5793"/>
      <pc:docMkLst>
        <pc:docMk/>
      </pc:docMkLst>
      <pc:sldChg chg="ord">
        <pc:chgData name="Iván de Jesús Hernández Díaz" userId="c172ba01-29d3-44fa-9905-eb9d062710e0" providerId="ADAL" clId="{BEE330F1-ADB2-454D-B1F2-AF574EA63A7B}" dt="2020-10-18T23:09:03.260" v="3"/>
        <pc:sldMkLst>
          <pc:docMk/>
          <pc:sldMk cId="1676786917" sldId="358"/>
        </pc:sldMkLst>
      </pc:sldChg>
      <pc:sldChg chg="modSp add mod">
        <pc:chgData name="Iván de Jesús Hernández Díaz" userId="c172ba01-29d3-44fa-9905-eb9d062710e0" providerId="ADAL" clId="{BEE330F1-ADB2-454D-B1F2-AF574EA63A7B}" dt="2020-10-18T23:15:04.086" v="144" actId="5793"/>
        <pc:sldMkLst>
          <pc:docMk/>
          <pc:sldMk cId="195055344" sldId="360"/>
        </pc:sldMkLst>
        <pc:spChg chg="mod">
          <ac:chgData name="Iván de Jesús Hernández Díaz" userId="c172ba01-29d3-44fa-9905-eb9d062710e0" providerId="ADAL" clId="{BEE330F1-ADB2-454D-B1F2-AF574EA63A7B}" dt="2020-10-18T23:09:24.164" v="5" actId="20577"/>
          <ac:spMkLst>
            <pc:docMk/>
            <pc:sldMk cId="195055344" sldId="360"/>
            <ac:spMk id="2" creationId="{FB18AB13-3931-45AA-A985-585A41452535}"/>
          </ac:spMkLst>
        </pc:spChg>
        <pc:spChg chg="mod">
          <ac:chgData name="Iván de Jesús Hernández Díaz" userId="c172ba01-29d3-44fa-9905-eb9d062710e0" providerId="ADAL" clId="{BEE330F1-ADB2-454D-B1F2-AF574EA63A7B}" dt="2020-10-18T23:15:04.086" v="144" actId="5793"/>
          <ac:spMkLst>
            <pc:docMk/>
            <pc:sldMk cId="195055344" sldId="360"/>
            <ac:spMk id="3" creationId="{E9B5D247-1F10-44F5-900A-858DE70D332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088EAF-6ECA-4616-85EF-35AA19C641F3}" type="datetimeFigureOut">
              <a:rPr lang="en-US"/>
              <a:t>10/18/2020</a:t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F912AB-2776-42F2-A957-313FC7EFEDB9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320657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BD2D7A-D230-4F91-BD59-0A39C2703BA8}" type="datetimeFigureOut">
              <a:rPr lang="en-US"/>
              <a:t>10/18/2020</a:t>
            </a:fld>
            <a:endParaRPr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3199CD-3E1B-4AE6-990F-76F925F5EA9F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76579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5214" y="1828800"/>
            <a:ext cx="8229600" cy="2895600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5213" y="4800600"/>
            <a:ext cx="8229600" cy="12192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cap="all" spc="200" baseline="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4999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10/18/2020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38254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9614" y="2514600"/>
            <a:ext cx="8692399" cy="2819400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48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5213" y="5410200"/>
            <a:ext cx="8687333" cy="6096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000" cap="all" spc="2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10/18/2020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61813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04781" y="1905001"/>
            <a:ext cx="4419599" cy="4114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29183" y="1905001"/>
            <a:ext cx="4419600" cy="4114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10/18/2020</a:t>
            </a:fld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25340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1" y="1905000"/>
            <a:ext cx="4416552" cy="762000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2000" b="0" cap="all" spc="2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1" y="2743201"/>
            <a:ext cx="4416552" cy="3276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9861" y="1905000"/>
            <a:ext cx="4416552" cy="762000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2000" b="0" cap="all" spc="2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9861" y="2743201"/>
            <a:ext cx="4416552" cy="3276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10/18/2020</a:t>
            </a:fld>
            <a:endParaRPr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08419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10/18/2020</a:t>
            </a:fld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26631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10/18/2020</a:t>
            </a:fld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07540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5604" y="1905000"/>
            <a:ext cx="3596607" cy="2667000"/>
          </a:xfr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defRPr sz="36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5213" y="4648200"/>
            <a:ext cx="3581399" cy="13716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1414" y="685800"/>
            <a:ext cx="6400800" cy="5334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10/18/2020</a:t>
            </a:fld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44981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5604" y="1905000"/>
            <a:ext cx="3596607" cy="266700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b="0" i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5213" y="4648200"/>
            <a:ext cx="3581399" cy="13716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951414" y="685800"/>
            <a:ext cx="6400799" cy="5334000"/>
          </a:xfrm>
          <a:solidFill>
            <a:schemeClr val="bg2"/>
          </a:solidFill>
          <a:ln w="76200">
            <a:solidFill>
              <a:schemeClr val="tx1"/>
            </a:solidFill>
            <a:miter lim="800000"/>
          </a:ln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  <a:endParaRPr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pPr/>
              <a:t>10/18/2020</a:t>
            </a:fld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49172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10/18/2020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60095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42412" y="381001"/>
            <a:ext cx="1524001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2412" y="381001"/>
            <a:ext cx="7391399" cy="56388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10/18/2020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79035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3" y="381000"/>
            <a:ext cx="9144001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1904999"/>
            <a:ext cx="9134391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2413" y="6400800"/>
            <a:ext cx="6553199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6422" y="6400800"/>
            <a:ext cx="1449389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F41C87-7AD9-4845-A077-840E4A0F3F06}" type="datetimeFigureOut">
              <a:rPr lang="en-US" smtClean="0"/>
              <a:pPr/>
              <a:t>10/18/2020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28211" y="6400800"/>
            <a:ext cx="838201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013F82-EE5E-44EE-A61D-E31C6657F26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30599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3838" indent="-223838" algn="l" defTabSz="914400" rtl="0" eaLnBrk="1" latinLnBrk="0" hangingPunct="1">
        <a:lnSpc>
          <a:spcPct val="90000"/>
        </a:lnSpc>
        <a:spcBef>
          <a:spcPts val="1800"/>
        </a:spcBef>
        <a:buClr>
          <a:schemeClr val="accent1"/>
        </a:buClr>
        <a:buSzPct val="10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63550" indent="-231775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SzPct val="10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2625" indent="-219075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57250" indent="-174625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30288" indent="-173038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380744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554480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728216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39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microsoft.com/en-us/dynamics365/unified-operations/dev-itpro/dev-tools/application-explorer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microsoft.com/en-us/dynamics365/unified-operations/dev-itpro/dev-tools/create-data-model-elements#create-the-fleet-management-tutorial-model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microsoft.com/en-us/dynamics365/unified-operations/dev-itpro/dev-ref/xpp-variables-data-types#create-an-edt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microsoft.com/en-us/dynamics365/unified-operations/dev-itpro/extensibility/customization-overlayering-extensions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microsoft.com/en-us/dynamics365/unified-operations/dev-itpro/extensibility/customization-overlayering-extensions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microsoft.com/en-us/dynamics365/unified-operations/dev-itpro/extensibility/extensibility-home-page" TargetMode="External"/><Relationship Id="rId2" Type="http://schemas.openxmlformats.org/officeDocument/2006/relationships/hyperlink" Target="https://docs.microsoft.com/en-us/dynamics365/unified-operations/dev-itpro/lifecycle-services/ax-2012/create-tables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microsoft.com/en-us/dynamics365/unified-operations/dev-itpro/dev-ref/xpp-variables-data-types#create-an-edt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microsoft.com/en-us/dynamics365/fin-ops-core/dev-itpro/dev-tools/create-data-model-elements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microsoft.com/en-us/dynamics365/unified-operations/dev-itpro/user-interface/select-form-pattern" TargetMode="External"/><Relationship Id="rId2" Type="http://schemas.openxmlformats.org/officeDocument/2006/relationships/hyperlink" Target="https://docs.microsoft.com/en-us/dynamics365/unified-operations/dev-itpro/user-interface/form-styles-patterns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microsoft.com/en-us/dynamics365/fin-ops-core/dev-itpro/user-interface/build-customer-form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microsoft.com/en-us/dynamics365/unified-operations/dev-itpro/dev-ref/xpp-classes-methods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microsoft.com/en-us/dynamics365/unified-operations/dev-itpro/extensibility/intrusive-customizations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microsoft.com/en-us/dynamics365/unified-operations/dev-itpro/extensibility/intrusive-customizations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hyperlink" Target="https://community.dynamics.com/365/financeandoperations/b/sertansdynamicsax/archive/2017/05/01/ax7-extensibility-part-3-event-handlers-and-delegates-hooks" TargetMode="Externa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microsoft.com/en-us/dynamics365/fin-ops-core/dev-itpro/extensibility/customize-model-elements-extensions#installing-the-demo-data" TargetMode="External"/><Relationship Id="rId2" Type="http://schemas.openxmlformats.org/officeDocument/2006/relationships/hyperlink" Target="https://docs.microsoft.com/en-us/dynamics365/fin-ops-core/dev-itpro/dev-tools/create-data-model-elements" TargetMode="Externa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hyperlink" Target="https://community.dynamics.com/ax/b/dynamics101trainingcenterax/archive/2013/09/16/developing-a-ssrs-report-using-the-report-data-provider-in-microsoft-dynamics-ax-2012" TargetMode="Externa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msdn.microsoft.com/en-us/library/gg845661.aspx" TargetMode="External"/><Relationship Id="rId2" Type="http://schemas.openxmlformats.org/officeDocument/2006/relationships/hyperlink" Target="https://msdn.microsoft.com/en-us/library/bb314749.aspx" TargetMode="Externa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technet.microsoft.com/en-us/library/cc569526.aspx" TargetMode="External"/><Relationship Id="rId2" Type="http://schemas.openxmlformats.org/officeDocument/2006/relationships/hyperlink" Target="https://technet.microsoft.com/en-us/library/gg731917.aspx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technet.microsoft.com/en-us/library/hh456301.aspx" TargetMode="Externa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hyperlink" Target="https://community.dynamics.com/ax/b/faisalfareedaxlibrary/archive/2014/12/27/rdp-contract-ui-builder-and-controller-classes-for-ssrs-report-development" TargetMode="Externa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hyperlink" Target="https://community.dynamics.com/ax/b/faisalfareedaxlibrary/archive/2014/12/27/rdp-contract-ui-builder-and-controller-classes-for-ssrs-report-developmen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1522412" y="1828800"/>
            <a:ext cx="8229600" cy="2895600"/>
          </a:xfrm>
        </p:spPr>
        <p:txBody>
          <a:bodyPr/>
          <a:lstStyle/>
          <a:p>
            <a:r>
              <a:rPr lang="es-MX" dirty="0"/>
              <a:t>Dynamics</a:t>
            </a:r>
            <a:r>
              <a:rPr lang="en-US" dirty="0"/>
              <a:t> 365 FO Development</a:t>
            </a:r>
          </a:p>
        </p:txBody>
      </p:sp>
    </p:spTree>
    <p:extLst>
      <p:ext uri="{BB962C8B-B14F-4D97-AF65-F5344CB8AC3E}">
        <p14:creationId xmlns:p14="http://schemas.microsoft.com/office/powerpoint/2010/main" val="2808920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Arquitectura</a:t>
            </a:r>
          </a:p>
        </p:txBody>
      </p:sp>
      <p:pic>
        <p:nvPicPr>
          <p:cNvPr id="2050" name="Picture 2" descr="Architecture drawing">
            <a:extLst>
              <a:ext uri="{FF2B5EF4-FFF2-40B4-BE49-F238E27FC236}">
                <a16:creationId xmlns:a16="http://schemas.microsoft.com/office/drawing/2014/main" id="{CB1A2877-B089-41EF-9AE5-025BAAC7D38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3740" y="1905000"/>
            <a:ext cx="7391821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3939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Arquitectura</a:t>
            </a:r>
          </a:p>
        </p:txBody>
      </p:sp>
      <p:pic>
        <p:nvPicPr>
          <p:cNvPr id="1026" name="Picture 2" descr="https://docs.microsoft.com/en-us/dynamics365/unified-operations/dev-itpro/dev-tools/media/cloudenvironmenttechconcepts.png">
            <a:extLst>
              <a:ext uri="{FF2B5EF4-FFF2-40B4-BE49-F238E27FC236}">
                <a16:creationId xmlns:a16="http://schemas.microsoft.com/office/drawing/2014/main" id="{655044C0-D2FF-4753-83FB-22A824CDC62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8388" y="1981200"/>
            <a:ext cx="8291948" cy="377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6206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Setting up the environment and VSTS</a:t>
            </a:r>
          </a:p>
        </p:txBody>
      </p:sp>
      <p:pic>
        <p:nvPicPr>
          <p:cNvPr id="4098" name="Picture 2" descr="http://1.bp.blogspot.com/-5pFBt6MGtLk/UraRIvVX3fI/AAAAAAAAE1U/QBL85XIi3Ho/s1600/application+layers.jpg">
            <a:extLst>
              <a:ext uri="{FF2B5EF4-FFF2-40B4-BE49-F238E27FC236}">
                <a16:creationId xmlns:a16="http://schemas.microsoft.com/office/drawing/2014/main" id="{F9456B17-692E-4A48-98E6-365CB2F95F8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4812" y="2133600"/>
            <a:ext cx="4982205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5FA6424-7C6C-466D-AF40-E97F5CBE5D97}"/>
              </a:ext>
            </a:extLst>
          </p:cNvPr>
          <p:cNvSpPr txBox="1"/>
          <p:nvPr/>
        </p:nvSpPr>
        <p:spPr>
          <a:xfrm>
            <a:off x="7847012" y="2438400"/>
            <a:ext cx="33528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Dynamics </a:t>
            </a:r>
            <a:r>
              <a:rPr lang="es-MX" dirty="0"/>
              <a:t>contiene</a:t>
            </a:r>
            <a:r>
              <a:rPr lang="en-US" dirty="0"/>
              <a:t> </a:t>
            </a:r>
            <a:r>
              <a:rPr lang="es-MX" dirty="0"/>
              <a:t>varias</a:t>
            </a:r>
            <a:r>
              <a:rPr lang="en-US" dirty="0"/>
              <a:t> </a:t>
            </a:r>
            <a:r>
              <a:rPr lang="es-MX" dirty="0"/>
              <a:t>capas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Capas superiores sobrescriben a capas de menor nivel, los cambios pueden existir en ambas capas, solo las modificaciones de capa mas alta son mostradas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9157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Studio Team Services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2B203-C312-41FF-BBF5-7A5CD8C90F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Visual Studio Team </a:t>
            </a:r>
            <a:r>
              <a:rPr lang="es-MX" dirty="0" err="1"/>
              <a:t>Services</a:t>
            </a:r>
            <a:r>
              <a:rPr lang="es-MX" dirty="0"/>
              <a:t> es un servicio en la nube para control de versiones de código.</a:t>
            </a:r>
          </a:p>
          <a:p>
            <a:r>
              <a:rPr lang="es-MX" dirty="0"/>
              <a:t>LCS requiere un Proyecto de VSTS para poder implementarse.</a:t>
            </a:r>
          </a:p>
          <a:p>
            <a:r>
              <a:rPr lang="es-MX" dirty="0"/>
              <a:t>VSTS permite guardar el control de cambios de desarrollos y/o parches.</a:t>
            </a:r>
          </a:p>
        </p:txBody>
      </p:sp>
    </p:spTree>
    <p:extLst>
      <p:ext uri="{BB962C8B-B14F-4D97-AF65-F5344CB8AC3E}">
        <p14:creationId xmlns:p14="http://schemas.microsoft.com/office/powerpoint/2010/main" val="2652830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Studio Team Services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2B203-C312-41FF-BBF5-7A5CD8C90F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Implementación de VSTS en LCS y creación de proyectos</a:t>
            </a:r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181477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Introduccion a Desarrollo en VS y AOT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2B203-C312-41FF-BBF5-7A5CD8C90F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/>
              <a:t>Las implementacion de Dynamics 365 FO cuentan con un ambiente de desarrollo por cliente.</a:t>
            </a:r>
          </a:p>
          <a:p>
            <a:r>
              <a:rPr lang="es-MX"/>
              <a:t>Cada ambiente de desarrollo permite 1 desarrollador por ambiente.</a:t>
            </a:r>
          </a:p>
          <a:p>
            <a:r>
              <a:rPr lang="es-MX"/>
              <a:t>Ambientes adicionales pueden ser comprador, o puede desacargarse una imagen de maquina virtual para implementar de manera local.</a:t>
            </a:r>
          </a:p>
          <a:p>
            <a:pPr marL="0" indent="0">
              <a:buNone/>
            </a:pPr>
            <a:endParaRPr lang="es-MX"/>
          </a:p>
          <a:p>
            <a:pPr marL="0" indent="0">
              <a:buNone/>
            </a:pP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38365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Customization and </a:t>
            </a:r>
            <a:r>
              <a:rPr lang="en-US" dirty="0" err="1"/>
              <a:t>Overlayering</a:t>
            </a:r>
            <a:endParaRPr lang="en-US" dirty="0"/>
          </a:p>
        </p:txBody>
      </p:sp>
      <p:pic>
        <p:nvPicPr>
          <p:cNvPr id="3074" name="Picture 2" descr="media/ax7customization1.png">
            <a:extLst>
              <a:ext uri="{FF2B5EF4-FFF2-40B4-BE49-F238E27FC236}">
                <a16:creationId xmlns:a16="http://schemas.microsoft.com/office/drawing/2014/main" id="{6F1F9403-E3F7-49B8-AC69-DD3E3650CC4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1352" y="1905000"/>
            <a:ext cx="6072985" cy="472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7805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Studio y AOT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2B203-C312-41FF-BBF5-7A5CD8C90F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2E3189-2E3D-4820-97BE-4D988F20437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303"/>
          <a:stretch/>
        </p:blipFill>
        <p:spPr>
          <a:xfrm>
            <a:off x="8304212" y="1271704"/>
            <a:ext cx="3146611" cy="47480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BF88B23-7EC0-4E17-AC63-C785ECFD8EE9}"/>
              </a:ext>
            </a:extLst>
          </p:cNvPr>
          <p:cNvSpPr txBox="1"/>
          <p:nvPr/>
        </p:nvSpPr>
        <p:spPr>
          <a:xfrm>
            <a:off x="1522413" y="2133600"/>
            <a:ext cx="396239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/>
              <a:t>Toda instancia de desarrollo contiene codigo Fuente de la aplicacion.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/>
              <a:t>No se puede desarrollar en ambientes que no sean de desarrollo o depurar.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/>
              <a:t>Se pueden modificar o agregar elementos desde Application explorer.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EFEC9A-E33E-4ED8-A77A-4D1F0118C766}"/>
              </a:ext>
            </a:extLst>
          </p:cNvPr>
          <p:cNvSpPr txBox="1"/>
          <p:nvPr/>
        </p:nvSpPr>
        <p:spPr>
          <a:xfrm>
            <a:off x="1141412" y="6172200"/>
            <a:ext cx="103724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https://docs.microsoft.com/en-us/dynamics365/unified-operations/dev-itpro/dev-tools/application-explorer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5327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Creacion de proyectos y modelos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2B203-C312-41FF-BBF5-7A5CD8C90F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s-MX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F88B23-7EC0-4E17-AC63-C785ECFD8EE9}"/>
              </a:ext>
            </a:extLst>
          </p:cNvPr>
          <p:cNvSpPr txBox="1"/>
          <p:nvPr/>
        </p:nvSpPr>
        <p:spPr>
          <a:xfrm>
            <a:off x="1522413" y="2133600"/>
            <a:ext cx="396239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Todo</a:t>
            </a:r>
            <a:r>
              <a:rPr lang="en-US" dirty="0"/>
              <a:t> </a:t>
            </a:r>
            <a:r>
              <a:rPr lang="es-MX" dirty="0"/>
              <a:t>desarrollo debe de existir en un modelo.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</a:t>
            </a:r>
            <a:r>
              <a:rPr lang="es-MX" dirty="0"/>
              <a:t>os proyectos contienen la estructura de elementos y modelos.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</a:t>
            </a:r>
            <a:r>
              <a:rPr lang="es-MX" dirty="0"/>
              <a:t>os modelos son la forma de exportar e importar funcionalidad entre ambientes.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F77DD2-3540-4948-A7BC-9601230D76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4761" y="1752600"/>
            <a:ext cx="3333333" cy="420952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00BDCC2-01AF-469A-ADFF-4097873DBB5D}"/>
              </a:ext>
            </a:extLst>
          </p:cNvPr>
          <p:cNvSpPr txBox="1"/>
          <p:nvPr/>
        </p:nvSpPr>
        <p:spPr>
          <a:xfrm>
            <a:off x="1541217" y="6147018"/>
            <a:ext cx="9296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hlinkClick r:id="rId3"/>
              </a:rPr>
              <a:t>https://docs.microsoft.com/en-us/dynamics365/unified-operations/dev-itpro/dev-tools/create-data-model-elements#create-the-fleet-management-tutorial-model</a:t>
            </a:r>
            <a:endParaRPr lang="en-US" sz="1400" dirty="0"/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374506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Introduccion a X++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2B203-C312-41FF-BBF5-7A5CD8C90F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F88B23-7EC0-4E17-AC63-C785ECFD8EE9}"/>
              </a:ext>
            </a:extLst>
          </p:cNvPr>
          <p:cNvSpPr txBox="1"/>
          <p:nvPr/>
        </p:nvSpPr>
        <p:spPr>
          <a:xfrm>
            <a:off x="1522413" y="2133600"/>
            <a:ext cx="944879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X++ es un lenguaje de programación Orientado a Objetos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Solo es posible modificar la aplicación desde Visual Studio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Las modificaciones se deben de realizar por medio de </a:t>
            </a:r>
            <a:r>
              <a:rPr lang="es-MX" dirty="0" err="1"/>
              <a:t>Customization</a:t>
            </a:r>
            <a:r>
              <a:rPr lang="es-MX" dirty="0"/>
              <a:t>/</a:t>
            </a:r>
            <a:r>
              <a:rPr lang="es-MX" dirty="0" err="1"/>
              <a:t>Overlayering</a:t>
            </a:r>
            <a:r>
              <a:rPr lang="es-MX" dirty="0"/>
              <a:t> o por medio de Extensiones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5068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Datos</a:t>
            </a:r>
            <a:r>
              <a:rPr lang="en-US" dirty="0"/>
              <a:t> primitive, variables y EDT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2B203-C312-41FF-BBF5-7A5CD8C90F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F88B23-7EC0-4E17-AC63-C785ECFD8EE9}"/>
              </a:ext>
            </a:extLst>
          </p:cNvPr>
          <p:cNvSpPr txBox="1"/>
          <p:nvPr/>
        </p:nvSpPr>
        <p:spPr>
          <a:xfrm>
            <a:off x="1522413" y="2133600"/>
            <a:ext cx="944879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constant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anytype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boolean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enum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guid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 y int64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timeOfDay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utcdatetime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Array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Container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624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2B203-C312-41FF-BBF5-7A5CD8C90F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F88B23-7EC0-4E17-AC63-C785ECFD8EE9}"/>
              </a:ext>
            </a:extLst>
          </p:cNvPr>
          <p:cNvSpPr txBox="1"/>
          <p:nvPr/>
        </p:nvSpPr>
        <p:spPr>
          <a:xfrm>
            <a:off x="1522413" y="2133600"/>
            <a:ext cx="944879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Extended Data </a:t>
            </a:r>
            <a:r>
              <a:rPr lang="es-MX" dirty="0" err="1"/>
              <a:t>Types</a:t>
            </a:r>
            <a:r>
              <a:rPr lang="es-MX" dirty="0"/>
              <a:t> son objetos que derivan de datos primitivos o de otros </a:t>
            </a:r>
            <a:r>
              <a:rPr lang="es-MX" dirty="0" err="1"/>
              <a:t>EDT’s</a:t>
            </a:r>
            <a:r>
              <a:rPr lang="es-MX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Contienen propiedades que permiten definir el dato que se puede ingresar, su formato y tras propiedades que permiten crear tipos de datos definidos por el desarrollador.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Todo </a:t>
            </a:r>
            <a:r>
              <a:rPr lang="es-MX" dirty="0" err="1"/>
              <a:t>codigo</a:t>
            </a:r>
            <a:r>
              <a:rPr lang="es-MX" dirty="0"/>
              <a:t> debe de realizarse usando </a:t>
            </a:r>
            <a:r>
              <a:rPr lang="es-MX" dirty="0" err="1"/>
              <a:t>EDT’s</a:t>
            </a:r>
            <a:r>
              <a:rPr lang="es-MX" dirty="0"/>
              <a:t> o tratando de minimiza el uso de datos primitivos.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Permite mantener </a:t>
            </a:r>
            <a:r>
              <a:rPr lang="es-MX" dirty="0" err="1"/>
              <a:t>homogenea</a:t>
            </a:r>
            <a:r>
              <a:rPr lang="es-MX" dirty="0"/>
              <a:t> las clases, tablas, formularios y los objetos de la </a:t>
            </a:r>
            <a:r>
              <a:rPr lang="es-MX" dirty="0" err="1"/>
              <a:t>aplicacion</a:t>
            </a:r>
            <a:r>
              <a:rPr lang="es-MX" dirty="0"/>
              <a:t> en general.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/>
          </a:p>
          <a:p>
            <a:r>
              <a:rPr lang="es-MX" dirty="0"/>
              <a:t>Tipos de dato y como crear un Extended Data </a:t>
            </a:r>
            <a:r>
              <a:rPr lang="es-MX" dirty="0" err="1"/>
              <a:t>Type</a:t>
            </a:r>
            <a:endParaRPr lang="es-MX" dirty="0"/>
          </a:p>
          <a:p>
            <a:r>
              <a:rPr lang="en-US" dirty="0">
                <a:hlinkClick r:id="rId2"/>
              </a:rPr>
              <a:t>https://docs.microsoft.com/en-us/dynamics365/unified-operations/dev-itpro/dev-ref/xpp-variables-data-types#create-an-edt</a:t>
            </a:r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6132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Extensions, customization y </a:t>
            </a:r>
            <a:r>
              <a:rPr lang="en-US" dirty="0" err="1"/>
              <a:t>overlayering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2B203-C312-41FF-BBF5-7A5CD8C90F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F88B23-7EC0-4E17-AC63-C785ECFD8EE9}"/>
              </a:ext>
            </a:extLst>
          </p:cNvPr>
          <p:cNvSpPr txBox="1"/>
          <p:nvPr/>
        </p:nvSpPr>
        <p:spPr>
          <a:xfrm>
            <a:off x="1522413" y="2133600"/>
            <a:ext cx="9448799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Existen varias formas de modificar la aplicación, dependiendo del tipo de cambio que se requiera realizar podemos acudir a uno u otro método de programación.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 err="1"/>
              <a:t>Customization</a:t>
            </a:r>
            <a:r>
              <a:rPr lang="es-MX" dirty="0"/>
              <a:t> y </a:t>
            </a:r>
            <a:r>
              <a:rPr lang="es-MX" dirty="0" err="1"/>
              <a:t>Overlayering</a:t>
            </a:r>
            <a:r>
              <a:rPr lang="es-MX" dirty="0"/>
              <a:t> se refiere a la forma original de programar de la aplicación, se modifica sobre las capas existentes del sistema creando cambios sobre una capa superior la cual reemplaza a las capas inferiores.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 err="1"/>
              <a:t>Customizacion</a:t>
            </a:r>
            <a:r>
              <a:rPr lang="es-MX" dirty="0"/>
              <a:t> y </a:t>
            </a:r>
            <a:r>
              <a:rPr lang="es-MX" dirty="0" err="1"/>
              <a:t>overlayering</a:t>
            </a:r>
            <a:r>
              <a:rPr lang="es-MX" dirty="0"/>
              <a:t> a pesar de ser soportado, no son recomendados.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 err="1"/>
              <a:t>Extension</a:t>
            </a:r>
            <a:r>
              <a:rPr lang="es-MX" dirty="0"/>
              <a:t> es la nueva forma de programar de la aplicación, donde se crea un </a:t>
            </a:r>
            <a:r>
              <a:rPr lang="es-MX" dirty="0" err="1"/>
              <a:t>addon</a:t>
            </a:r>
            <a:r>
              <a:rPr lang="es-MX" dirty="0"/>
              <a:t> o extensión de funcionalidad, ejecutando código adicional, o adicionando cambios a una funcionalidad existente, no se </a:t>
            </a:r>
            <a:r>
              <a:rPr lang="es-MX" dirty="0" err="1"/>
              <a:t>sobreescribe</a:t>
            </a:r>
            <a:r>
              <a:rPr lang="es-MX" dirty="0"/>
              <a:t> código ni se reemplazan capas.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Utilizar extensiones siempre que sea posible.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A partir de la versión 8.0 no es posible utilizar </a:t>
            </a:r>
            <a:r>
              <a:rPr lang="es-MX" dirty="0" err="1"/>
              <a:t>Customization</a:t>
            </a:r>
            <a:r>
              <a:rPr lang="es-MX" dirty="0"/>
              <a:t> y </a:t>
            </a:r>
            <a:r>
              <a:rPr lang="es-MX" dirty="0" err="1"/>
              <a:t>overlayering</a:t>
            </a:r>
            <a:r>
              <a:rPr lang="es-MX" dirty="0"/>
              <a:t>, todo se hace mediante extensiones y </a:t>
            </a:r>
            <a:r>
              <a:rPr lang="es-MX" dirty="0" err="1"/>
              <a:t>subcripciones</a:t>
            </a:r>
            <a:r>
              <a:rPr lang="es-MX" dirty="0"/>
              <a:t> a métodos.</a:t>
            </a:r>
          </a:p>
          <a:p>
            <a:endParaRPr lang="es-MX" dirty="0"/>
          </a:p>
          <a:p>
            <a:r>
              <a:rPr lang="es-MX" dirty="0"/>
              <a:t>Extensiones, </a:t>
            </a:r>
            <a:r>
              <a:rPr lang="es-MX" dirty="0" err="1"/>
              <a:t>Customization</a:t>
            </a:r>
            <a:r>
              <a:rPr lang="es-MX" dirty="0"/>
              <a:t> y </a:t>
            </a:r>
            <a:r>
              <a:rPr lang="es-MX" dirty="0" err="1"/>
              <a:t>Overlayering</a:t>
            </a:r>
            <a:endParaRPr lang="es-MX" dirty="0"/>
          </a:p>
          <a:p>
            <a:r>
              <a:rPr lang="en-US" dirty="0">
                <a:hlinkClick r:id="rId2"/>
              </a:rPr>
              <a:t>https://docs.microsoft.com/en-us/dynamics365/unified-operations/dev-itpro/extensibility/customization-overlayering-extensions</a:t>
            </a:r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634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Extensions, customization y </a:t>
            </a:r>
            <a:r>
              <a:rPr lang="en-US" dirty="0" err="1"/>
              <a:t>overlayering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2B203-C312-41FF-BBF5-7A5CD8C90F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26" name="Picture 2" descr="media/ax7customization1.png">
            <a:extLst>
              <a:ext uri="{FF2B5EF4-FFF2-40B4-BE49-F238E27FC236}">
                <a16:creationId xmlns:a16="http://schemas.microsoft.com/office/drawing/2014/main" id="{53E51E49-2A28-4899-8C7D-2CDE7EAA2A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6812" y="1777314"/>
            <a:ext cx="6096000" cy="4742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6025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Objetos que se pueden extender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2B203-C312-41FF-BBF5-7A5CD8C90F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F88B23-7EC0-4E17-AC63-C785ECFD8EE9}"/>
              </a:ext>
            </a:extLst>
          </p:cNvPr>
          <p:cNvSpPr txBox="1"/>
          <p:nvPr/>
        </p:nvSpPr>
        <p:spPr>
          <a:xfrm>
            <a:off x="1522413" y="2133600"/>
            <a:ext cx="944879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 err="1"/>
              <a:t>Classes</a:t>
            </a:r>
            <a:endParaRPr lang="es-MX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Tablas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Formularios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Tipos de datos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Reportes (Parcial)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 err="1"/>
              <a:t>Labels</a:t>
            </a:r>
            <a:endParaRPr lang="es-MX" dirty="0"/>
          </a:p>
          <a:p>
            <a:endParaRPr lang="es-MX" dirty="0"/>
          </a:p>
          <a:p>
            <a:r>
              <a:rPr lang="es-MX" dirty="0"/>
              <a:t>Extensiones, Customización y </a:t>
            </a:r>
            <a:r>
              <a:rPr lang="es-MX" dirty="0" err="1"/>
              <a:t>Overlayering</a:t>
            </a:r>
            <a:endParaRPr lang="es-MX" dirty="0"/>
          </a:p>
          <a:p>
            <a:r>
              <a:rPr lang="en-US" dirty="0">
                <a:hlinkClick r:id="rId2"/>
              </a:rPr>
              <a:t>https://docs.microsoft.com/en-us/dynamics365/unified-operations/dev-itpro/extensibility/customization-overlayering-extensions</a:t>
            </a:r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074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Tablas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2B203-C312-41FF-BBF5-7A5CD8C90F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F88B23-7EC0-4E17-AC63-C785ECFD8EE9}"/>
              </a:ext>
            </a:extLst>
          </p:cNvPr>
          <p:cNvSpPr txBox="1"/>
          <p:nvPr/>
        </p:nvSpPr>
        <p:spPr>
          <a:xfrm>
            <a:off x="1522413" y="2133600"/>
            <a:ext cx="944879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Se manejan como objetos en Dynamics AX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Toda modificación a una table se realiza directamente en Dynamics no en SQL (A nivel usuario)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Por estandarización todo campo debe de ser creado a partir de un EDT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Seguir nomenclaturas de Microsoft dentro de lo posible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Generar índices y grupos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/>
          </a:p>
          <a:p>
            <a:r>
              <a:rPr lang="es-MX" dirty="0"/>
              <a:t>Tablas y propiedades</a:t>
            </a:r>
          </a:p>
          <a:p>
            <a:r>
              <a:rPr lang="en-US" dirty="0">
                <a:hlinkClick r:id="rId2"/>
              </a:rPr>
              <a:t>https://docs.microsoft.com/en-us/dynamics365/unified-operations/dev-itpro/lifecycle-services/ax-2012/create-tables</a:t>
            </a:r>
            <a:endParaRPr lang="en-US" dirty="0"/>
          </a:p>
          <a:p>
            <a:r>
              <a:rPr lang="en-US" dirty="0"/>
              <a:t>Extensions:</a:t>
            </a:r>
          </a:p>
          <a:p>
            <a:r>
              <a:rPr lang="en-US" dirty="0">
                <a:hlinkClick r:id="rId3"/>
              </a:rPr>
              <a:t>https://docs.microsoft.com/en-us/dynamics365/unified-operations/dev-itpro/extensibility/extensibility-home-page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297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Tablas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2B203-C312-41FF-BBF5-7A5CD8C90F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F88B23-7EC0-4E17-AC63-C785ECFD8EE9}"/>
              </a:ext>
            </a:extLst>
          </p:cNvPr>
          <p:cNvSpPr txBox="1"/>
          <p:nvPr/>
        </p:nvSpPr>
        <p:spPr>
          <a:xfrm>
            <a:off x="1522413" y="2133600"/>
            <a:ext cx="944879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Extended Data </a:t>
            </a:r>
            <a:r>
              <a:rPr lang="es-MX" dirty="0" err="1"/>
              <a:t>Types</a:t>
            </a:r>
            <a:r>
              <a:rPr lang="es-MX" dirty="0"/>
              <a:t> son objetos que derivan de datos primitivos o de otros </a:t>
            </a:r>
            <a:r>
              <a:rPr lang="es-MX" dirty="0" err="1"/>
              <a:t>EDT’s</a:t>
            </a:r>
            <a:r>
              <a:rPr lang="es-MX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Contienen propiedades que permiten </a:t>
            </a:r>
            <a:r>
              <a:rPr lang="es-MX" dirty="0" err="1"/>
              <a:t>definer</a:t>
            </a:r>
            <a:r>
              <a:rPr lang="es-MX" dirty="0"/>
              <a:t> el dato que se puede ingresar, su formato y tras propiedades que permiten crear tipos de datos definidos por el desarrollador.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Todo código debe de realizarse usando </a:t>
            </a:r>
            <a:r>
              <a:rPr lang="es-MX" dirty="0" err="1"/>
              <a:t>EDT’s</a:t>
            </a:r>
            <a:r>
              <a:rPr lang="es-MX" dirty="0"/>
              <a:t> o tratando de minimizar el uso de datos primitivos.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Permite mantener homogénea las clases, tablas, formularios y los objetos de la aplicación en general.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/>
          </a:p>
          <a:p>
            <a:r>
              <a:rPr lang="es-MX" dirty="0"/>
              <a:t>Tipos de dato y como crear un Extended Data </a:t>
            </a:r>
            <a:r>
              <a:rPr lang="es-MX" dirty="0" err="1"/>
              <a:t>Type</a:t>
            </a:r>
            <a:endParaRPr lang="es-MX" dirty="0"/>
          </a:p>
          <a:p>
            <a:r>
              <a:rPr lang="en-US" dirty="0">
                <a:hlinkClick r:id="rId2"/>
              </a:rPr>
              <a:t>https://docs.microsoft.com/en-us/dynamics365/unified-operations/dev-itpro/dev-ref/xpp-variables-data-types#create-an-edt</a:t>
            </a:r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6666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8AB13-3931-45AA-A985-585A41452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Laboratorio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B5D247-1F10-44F5-900A-858DE70D33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lang="es-MX" dirty="0"/>
          </a:p>
          <a:p>
            <a:r>
              <a:rPr lang="es-MX" dirty="0"/>
              <a:t>-Crear Modelo (Y usar modelo)</a:t>
            </a:r>
          </a:p>
          <a:p>
            <a:r>
              <a:rPr lang="es-MX" dirty="0"/>
              <a:t>-Crear Tabla y crear campos sobre la misma</a:t>
            </a:r>
          </a:p>
          <a:p>
            <a:r>
              <a:rPr lang="es-MX" dirty="0"/>
              <a:t>-Crear Modelo Adicional</a:t>
            </a:r>
          </a:p>
          <a:p>
            <a:r>
              <a:rPr lang="es-MX" dirty="0"/>
              <a:t>-Crear </a:t>
            </a:r>
            <a:r>
              <a:rPr lang="es-MX" dirty="0" err="1"/>
              <a:t>extension</a:t>
            </a:r>
            <a:r>
              <a:rPr lang="es-MX" dirty="0"/>
              <a:t> de tabla en nuevo modelo</a:t>
            </a:r>
          </a:p>
          <a:p>
            <a:r>
              <a:rPr lang="es-MX" dirty="0"/>
              <a:t>-Agregar campos en </a:t>
            </a:r>
            <a:r>
              <a:rPr lang="es-MX" dirty="0" err="1"/>
              <a:t>Extension</a:t>
            </a:r>
            <a:endParaRPr lang="es-MX" dirty="0"/>
          </a:p>
          <a:p>
            <a:r>
              <a:rPr lang="es-MX" dirty="0"/>
              <a:t>-Compilar </a:t>
            </a:r>
            <a:r>
              <a:rPr lang="es-MX" dirty="0" err="1"/>
              <a:t>aplicacion</a:t>
            </a:r>
            <a:r>
              <a:rPr lang="es-MX" dirty="0"/>
              <a:t> y verificar que los campos existan en el visor de tablas</a:t>
            </a:r>
          </a:p>
          <a:p>
            <a:r>
              <a:rPr lang="es-MX" dirty="0">
                <a:hlinkClick r:id="rId2"/>
              </a:rPr>
              <a:t>https://docs.microsoft.com/en-us/dynamics365/fin-ops-core/dev-itpro/dev-tools/create-data-model-elements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676786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Formularios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2B203-C312-41FF-BBF5-7A5CD8C90F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F88B23-7EC0-4E17-AC63-C785ECFD8EE9}"/>
              </a:ext>
            </a:extLst>
          </p:cNvPr>
          <p:cNvSpPr txBox="1"/>
          <p:nvPr/>
        </p:nvSpPr>
        <p:spPr>
          <a:xfrm>
            <a:off x="1522413" y="1760838"/>
            <a:ext cx="9448799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Objetos que se muestra en GUI de Dynamics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Requieren de un </a:t>
            </a:r>
            <a:r>
              <a:rPr lang="es-MX" dirty="0" err="1"/>
              <a:t>layout</a:t>
            </a:r>
            <a:r>
              <a:rPr lang="es-MX" dirty="0"/>
              <a:t> (</a:t>
            </a:r>
            <a:r>
              <a:rPr lang="es-MX" dirty="0" err="1"/>
              <a:t>pattern</a:t>
            </a:r>
            <a:r>
              <a:rPr lang="es-MX" dirty="0"/>
              <a:t> </a:t>
            </a:r>
            <a:r>
              <a:rPr lang="es-MX" dirty="0" err="1"/>
              <a:t>layout</a:t>
            </a:r>
            <a:r>
              <a:rPr lang="es-MX" dirty="0"/>
              <a:t>) el cual debe de ser programado con la estructura mínima básica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Permite ligar tablas al formulario, a este se le llama </a:t>
            </a:r>
            <a:r>
              <a:rPr lang="es-MX" dirty="0" err="1"/>
              <a:t>datasource</a:t>
            </a:r>
            <a:endParaRPr lang="es-MX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Un </a:t>
            </a:r>
            <a:r>
              <a:rPr lang="es-MX" dirty="0" err="1"/>
              <a:t>datasource</a:t>
            </a:r>
            <a:r>
              <a:rPr lang="es-MX" dirty="0"/>
              <a:t> es una instancia de la tabla(s) o </a:t>
            </a:r>
            <a:r>
              <a:rPr lang="es-MX" dirty="0" err="1"/>
              <a:t>queries</a:t>
            </a:r>
            <a:r>
              <a:rPr lang="es-MX" dirty="0"/>
              <a:t> que se referencian, no es una consulta directa a la table (SQL).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Pueden crearse eventos por, </a:t>
            </a:r>
            <a:r>
              <a:rPr lang="es-MX" dirty="0" err="1"/>
              <a:t>datasource</a:t>
            </a:r>
            <a:r>
              <a:rPr lang="es-MX" dirty="0"/>
              <a:t>,</a:t>
            </a:r>
            <a:r>
              <a:rPr lang="en-US" dirty="0"/>
              <a:t> </a:t>
            </a:r>
            <a:r>
              <a:rPr lang="es-MX" dirty="0"/>
              <a:t>diseño, tabla, controles. Se puede agregar código ejecutable a los mismos.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Requieren estar ligados a un menú o a código para poder ser mostrados, puedes recibir varias propiedad como parámetros incluyendo </a:t>
            </a:r>
            <a:r>
              <a:rPr lang="es-MX" dirty="0" err="1"/>
              <a:t>Datasources</a:t>
            </a:r>
            <a:r>
              <a:rPr lang="es-MX" dirty="0"/>
              <a:t>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/>
          </a:p>
          <a:p>
            <a:r>
              <a:rPr lang="es-MX" dirty="0"/>
              <a:t>Formularios y patrones</a:t>
            </a:r>
          </a:p>
          <a:p>
            <a:r>
              <a:rPr lang="en-US" dirty="0">
                <a:hlinkClick r:id="rId2"/>
              </a:rPr>
              <a:t>https://docs.microsoft.com/en-us/dynamics365/unified-operations/dev-itpro/user-interface/form-styles-patterns</a:t>
            </a:r>
            <a:endParaRPr lang="en-US" dirty="0"/>
          </a:p>
          <a:p>
            <a:r>
              <a:rPr lang="en-US" dirty="0">
                <a:hlinkClick r:id="rId3"/>
              </a:rPr>
              <a:t>https://docs.microsoft.com/en-us/dynamics365/unified-operations/dev-itpro/user-interface/select-form-pattern</a:t>
            </a:r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253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522413" y="381000"/>
            <a:ext cx="9144001" cy="1371600"/>
          </a:xfrm>
        </p:spPr>
        <p:txBody>
          <a:bodyPr/>
          <a:lstStyle/>
          <a:p>
            <a:r>
              <a:rPr lang="en-US" dirty="0"/>
              <a:t>Details Master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2B203-C312-41FF-BBF5-7A5CD8C90F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2413" y="1904999"/>
            <a:ext cx="9134391" cy="4114801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F88B23-7EC0-4E17-AC63-C785ECFD8EE9}"/>
              </a:ext>
            </a:extLst>
          </p:cNvPr>
          <p:cNvSpPr txBox="1"/>
          <p:nvPr/>
        </p:nvSpPr>
        <p:spPr>
          <a:xfrm>
            <a:off x="1522413" y="2133600"/>
            <a:ext cx="457199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Despliega de manera detallada datos de formularios o cierta funcionalidad. Recomendado para mostrar </a:t>
            </a:r>
            <a:r>
              <a:rPr lang="es-MX" dirty="0" err="1"/>
              <a:t>informacion</a:t>
            </a:r>
            <a:r>
              <a:rPr lang="es-MX" dirty="0"/>
              <a:t> con una complejidad alta  y, </a:t>
            </a:r>
            <a:r>
              <a:rPr lang="es-MX" dirty="0" err="1"/>
              <a:t>creacion</a:t>
            </a:r>
            <a:r>
              <a:rPr lang="es-MX" dirty="0"/>
              <a:t> y </a:t>
            </a:r>
            <a:r>
              <a:rPr lang="es-MX" dirty="0" err="1"/>
              <a:t>edicion</a:t>
            </a:r>
            <a:r>
              <a:rPr lang="es-MX" dirty="0"/>
              <a:t> de datos. Despliega </a:t>
            </a:r>
            <a:r>
              <a:rPr lang="es-MX" dirty="0" err="1"/>
              <a:t>informacion</a:t>
            </a:r>
            <a:r>
              <a:rPr lang="es-MX" dirty="0"/>
              <a:t> por pestañas.</a:t>
            </a:r>
          </a:p>
          <a:p>
            <a:endParaRPr lang="en-US" dirty="0"/>
          </a:p>
        </p:txBody>
      </p:sp>
      <p:pic>
        <p:nvPicPr>
          <p:cNvPr id="3074" name="Picture 2" descr="image003">
            <a:extLst>
              <a:ext uri="{FF2B5EF4-FFF2-40B4-BE49-F238E27FC236}">
                <a16:creationId xmlns:a16="http://schemas.microsoft.com/office/drawing/2014/main" id="{B187DF81-2E7E-4F5D-B043-B9B38C70B1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5812" y="2442020"/>
            <a:ext cx="6019800" cy="4069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2678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Details Transaction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2B203-C312-41FF-BBF5-7A5CD8C90F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2413" y="1904999"/>
            <a:ext cx="9134391" cy="4114801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F88B23-7EC0-4E17-AC63-C785ECFD8EE9}"/>
              </a:ext>
            </a:extLst>
          </p:cNvPr>
          <p:cNvSpPr txBox="1"/>
          <p:nvPr/>
        </p:nvSpPr>
        <p:spPr>
          <a:xfrm>
            <a:off x="1522413" y="2133600"/>
            <a:ext cx="350043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Despliega de manera detallada datos de formulario, muestra </a:t>
            </a:r>
            <a:r>
              <a:rPr lang="es-MX" dirty="0" err="1"/>
              <a:t>informacion</a:t>
            </a:r>
            <a:r>
              <a:rPr lang="es-MX" dirty="0"/>
              <a:t> de la table o </a:t>
            </a:r>
            <a:r>
              <a:rPr lang="es-MX" dirty="0" err="1"/>
              <a:t>lineas</a:t>
            </a:r>
            <a:r>
              <a:rPr lang="es-MX" dirty="0"/>
              <a:t> en un </a:t>
            </a:r>
            <a:r>
              <a:rPr lang="es-MX" dirty="0" err="1"/>
              <a:t>grid</a:t>
            </a:r>
            <a:r>
              <a:rPr lang="es-MX" dirty="0"/>
              <a:t>.</a:t>
            </a:r>
          </a:p>
          <a:p>
            <a:endParaRPr lang="en-US" dirty="0"/>
          </a:p>
        </p:txBody>
      </p:sp>
      <p:pic>
        <p:nvPicPr>
          <p:cNvPr id="7170" name="Picture 2" descr="HowToSelectAFormPattern (32)">
            <a:extLst>
              <a:ext uri="{FF2B5EF4-FFF2-40B4-BE49-F238E27FC236}">
                <a16:creationId xmlns:a16="http://schemas.microsoft.com/office/drawing/2014/main" id="{12EB04AD-F4D7-4E20-A54D-22834DFC2F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2850" y="2098589"/>
            <a:ext cx="6391274" cy="4321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8973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Dialog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2B203-C312-41FF-BBF5-7A5CD8C90F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2413" y="1904999"/>
            <a:ext cx="9134391" cy="4114801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F88B23-7EC0-4E17-AC63-C785ECFD8EE9}"/>
              </a:ext>
            </a:extLst>
          </p:cNvPr>
          <p:cNvSpPr txBox="1"/>
          <p:nvPr/>
        </p:nvSpPr>
        <p:spPr>
          <a:xfrm>
            <a:off x="1522413" y="2133600"/>
            <a:ext cx="632459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Despliega una Ventana de tipo dialogo la cual se mostrara en la parte derecho de la </a:t>
            </a:r>
            <a:r>
              <a:rPr lang="es-MX" dirty="0" err="1"/>
              <a:t>aplicacion</a:t>
            </a:r>
            <a:r>
              <a:rPr lang="es-MX" dirty="0"/>
              <a:t>. Normalmente usada para llamar otras funcionalidades del Sistema y pasar ciertos </a:t>
            </a:r>
            <a:r>
              <a:rPr lang="es-MX" dirty="0" err="1"/>
              <a:t>parametros</a:t>
            </a:r>
            <a:r>
              <a:rPr lang="es-MX" dirty="0"/>
              <a:t> a esta.</a:t>
            </a:r>
          </a:p>
          <a:p>
            <a:endParaRPr lang="en-US" dirty="0"/>
          </a:p>
        </p:txBody>
      </p:sp>
      <p:pic>
        <p:nvPicPr>
          <p:cNvPr id="6152" name="Picture 8" descr="https://docs.microsoft.com/en-us/dynamics365/unified-operations/dev-itpro/user-interface/media/howtoselectaformpattern-34.jpg">
            <a:extLst>
              <a:ext uri="{FF2B5EF4-FFF2-40B4-BE49-F238E27FC236}">
                <a16:creationId xmlns:a16="http://schemas.microsoft.com/office/drawing/2014/main" id="{30B35601-A1E8-495B-AE62-CD97454D3E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1812" y="1447800"/>
            <a:ext cx="3409949" cy="5260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4867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Drop Dialog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2B203-C312-41FF-BBF5-7A5CD8C90F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2413" y="1904999"/>
            <a:ext cx="9134391" cy="4114801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F88B23-7EC0-4E17-AC63-C785ECFD8EE9}"/>
              </a:ext>
            </a:extLst>
          </p:cNvPr>
          <p:cNvSpPr txBox="1"/>
          <p:nvPr/>
        </p:nvSpPr>
        <p:spPr>
          <a:xfrm>
            <a:off x="1522413" y="2133600"/>
            <a:ext cx="66293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Despliega un Dialogo en una Ventana emergente, principalmente utilizados por formularios para pasar </a:t>
            </a:r>
            <a:r>
              <a:rPr lang="es-MX" dirty="0" err="1"/>
              <a:t>parametros</a:t>
            </a:r>
            <a:r>
              <a:rPr lang="es-MX" dirty="0"/>
              <a:t> a alguna funcionalidad. </a:t>
            </a:r>
          </a:p>
          <a:p>
            <a:endParaRPr lang="en-US" dirty="0"/>
          </a:p>
        </p:txBody>
      </p:sp>
      <p:pic>
        <p:nvPicPr>
          <p:cNvPr id="5124" name="Picture 4" descr="https://docs.microsoft.com/en-us/dynamics365/unified-operations/dev-itpro/user-interface/media/howtoselectaformpattern-39.jpg">
            <a:extLst>
              <a:ext uri="{FF2B5EF4-FFF2-40B4-BE49-F238E27FC236}">
                <a16:creationId xmlns:a16="http://schemas.microsoft.com/office/drawing/2014/main" id="{8DE70A6F-93C1-46A9-8F0B-D21DF21C33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4212" y="2286000"/>
            <a:ext cx="3124200" cy="4075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5312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370012" y="243353"/>
            <a:ext cx="9144001" cy="1371600"/>
          </a:xfrm>
        </p:spPr>
        <p:txBody>
          <a:bodyPr/>
          <a:lstStyle/>
          <a:p>
            <a:r>
              <a:rPr lang="en-US" dirty="0" err="1"/>
              <a:t>FactBoxes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2B203-C312-41FF-BBF5-7A5CD8C90F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2413" y="1904999"/>
            <a:ext cx="9134391" cy="4114801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F88B23-7EC0-4E17-AC63-C785ECFD8EE9}"/>
              </a:ext>
            </a:extLst>
          </p:cNvPr>
          <p:cNvSpPr txBox="1"/>
          <p:nvPr/>
        </p:nvSpPr>
        <p:spPr>
          <a:xfrm>
            <a:off x="1522413" y="2133600"/>
            <a:ext cx="94487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Utilizadas para mostrar </a:t>
            </a:r>
            <a:r>
              <a:rPr lang="es-MX" dirty="0" err="1"/>
              <a:t>informacion</a:t>
            </a:r>
            <a:r>
              <a:rPr lang="es-MX" dirty="0"/>
              <a:t> adicional en formularios. No funcionan por si solas, deben de ser llamadas dentro de un formulario para mostrar detalles de ciertos formularios y registros.</a:t>
            </a:r>
          </a:p>
          <a:p>
            <a:endParaRPr lang="en-US" dirty="0"/>
          </a:p>
        </p:txBody>
      </p:sp>
      <p:pic>
        <p:nvPicPr>
          <p:cNvPr id="4102" name="Picture 6" descr="https://docs.microsoft.com/en-us/dynamics365/unified-operations/dev-itpro/user-interface/media/howtoselectaformpattern-40.jpg">
            <a:extLst>
              <a:ext uri="{FF2B5EF4-FFF2-40B4-BE49-F238E27FC236}">
                <a16:creationId xmlns:a16="http://schemas.microsoft.com/office/drawing/2014/main" id="{DA840C01-1D90-49BA-99F2-4A70E81B9C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4812" y="3184410"/>
            <a:ext cx="4267201" cy="3413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https://docs.microsoft.com/en-us/dynamics365/unified-operations/dev-itpro/user-interface/media/howtoselectaformpattern-41.jpg">
            <a:extLst>
              <a:ext uri="{FF2B5EF4-FFF2-40B4-BE49-F238E27FC236}">
                <a16:creationId xmlns:a16="http://schemas.microsoft.com/office/drawing/2014/main" id="{23E3EFE2-47FB-43B1-B210-A45482799C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4286" y="3194781"/>
            <a:ext cx="4391661" cy="3413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4475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370012" y="243353"/>
            <a:ext cx="9144001" cy="1371600"/>
          </a:xfrm>
        </p:spPr>
        <p:txBody>
          <a:bodyPr/>
          <a:lstStyle/>
          <a:p>
            <a:r>
              <a:rPr lang="en-US" dirty="0" err="1"/>
              <a:t>ListPage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2B203-C312-41FF-BBF5-7A5CD8C90F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2413" y="1904999"/>
            <a:ext cx="9134391" cy="4114801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F88B23-7EC0-4E17-AC63-C785ECFD8EE9}"/>
              </a:ext>
            </a:extLst>
          </p:cNvPr>
          <p:cNvSpPr txBox="1"/>
          <p:nvPr/>
        </p:nvSpPr>
        <p:spPr>
          <a:xfrm>
            <a:off x="1522413" y="2133600"/>
            <a:ext cx="47243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Principalmente </a:t>
            </a:r>
            <a:r>
              <a:rPr lang="es-MX" dirty="0" err="1"/>
              <a:t>utiliazdo</a:t>
            </a:r>
            <a:r>
              <a:rPr lang="es-MX" dirty="0"/>
              <a:t> para lectura de datos, muestra </a:t>
            </a:r>
            <a:r>
              <a:rPr lang="es-MX" dirty="0" err="1"/>
              <a:t>informacion</a:t>
            </a:r>
            <a:r>
              <a:rPr lang="es-MX" dirty="0"/>
              <a:t> de todos los registros en cierta consulta.</a:t>
            </a:r>
          </a:p>
          <a:p>
            <a:endParaRPr lang="en-US" dirty="0"/>
          </a:p>
        </p:txBody>
      </p:sp>
      <p:pic>
        <p:nvPicPr>
          <p:cNvPr id="8196" name="Picture 4" descr="https://docs.microsoft.com/en-us/dynamics365/unified-operations/dev-itpro/user-interface/media/howtoselectaformpattern-42.jpg">
            <a:extLst>
              <a:ext uri="{FF2B5EF4-FFF2-40B4-BE49-F238E27FC236}">
                <a16:creationId xmlns:a16="http://schemas.microsoft.com/office/drawing/2014/main" id="{C242AB48-B573-4E6B-94BA-C384807CCA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5069" y="1981200"/>
            <a:ext cx="6085267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2592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370012" y="243353"/>
            <a:ext cx="9144001" cy="1371600"/>
          </a:xfrm>
        </p:spPr>
        <p:txBody>
          <a:bodyPr/>
          <a:lstStyle/>
          <a:p>
            <a:r>
              <a:rPr lang="en-US" dirty="0" err="1"/>
              <a:t>SimpleList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2B203-C312-41FF-BBF5-7A5CD8C90F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2413" y="1904999"/>
            <a:ext cx="9134391" cy="4114801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F88B23-7EC0-4E17-AC63-C785ECFD8EE9}"/>
              </a:ext>
            </a:extLst>
          </p:cNvPr>
          <p:cNvSpPr txBox="1"/>
          <p:nvPr/>
        </p:nvSpPr>
        <p:spPr>
          <a:xfrm>
            <a:off x="1522413" y="2133600"/>
            <a:ext cx="47243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Muestra detalles del registro en una vista simple, no hace uso de </a:t>
            </a:r>
            <a:r>
              <a:rPr lang="es-MX" dirty="0" err="1"/>
              <a:t>FastTabs</a:t>
            </a:r>
            <a:r>
              <a:rPr lang="es-MX" dirty="0"/>
              <a:t>.</a:t>
            </a:r>
          </a:p>
          <a:p>
            <a:endParaRPr lang="en-US" dirty="0"/>
          </a:p>
        </p:txBody>
      </p:sp>
      <p:sp>
        <p:nvSpPr>
          <p:cNvPr id="2" name="AutoShape 2" descr="HowToSelectAFormPattern (3)">
            <a:extLst>
              <a:ext uri="{FF2B5EF4-FFF2-40B4-BE49-F238E27FC236}">
                <a16:creationId xmlns:a16="http://schemas.microsoft.com/office/drawing/2014/main" id="{D0CAA5D2-0DEC-4811-B9A9-81994832D82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2013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222" name="Picture 6" descr="https://docs.microsoft.com/en-us/dynamics365/unified-operations/dev-itpro/user-interface/media/howtoselectaformpattern-2.jpg">
            <a:extLst>
              <a:ext uri="{FF2B5EF4-FFF2-40B4-BE49-F238E27FC236}">
                <a16:creationId xmlns:a16="http://schemas.microsoft.com/office/drawing/2014/main" id="{33629B04-A24A-4074-9F3F-ED55674E49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8366" y="2173629"/>
            <a:ext cx="6224587" cy="4209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1279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370012" y="243353"/>
            <a:ext cx="9144001" cy="1371600"/>
          </a:xfrm>
        </p:spPr>
        <p:txBody>
          <a:bodyPr/>
          <a:lstStyle/>
          <a:p>
            <a:r>
              <a:rPr lang="en-US" dirty="0"/>
              <a:t>Table of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2B203-C312-41FF-BBF5-7A5CD8C90F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2413" y="1904999"/>
            <a:ext cx="9134391" cy="4114801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F88B23-7EC0-4E17-AC63-C785ECFD8EE9}"/>
              </a:ext>
            </a:extLst>
          </p:cNvPr>
          <p:cNvSpPr txBox="1"/>
          <p:nvPr/>
        </p:nvSpPr>
        <p:spPr>
          <a:xfrm>
            <a:off x="1522413" y="2133600"/>
            <a:ext cx="47243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Muestra </a:t>
            </a:r>
            <a:r>
              <a:rPr lang="es-MX" dirty="0" err="1"/>
              <a:t>informacion</a:t>
            </a:r>
            <a:r>
              <a:rPr lang="es-MX" dirty="0"/>
              <a:t> principal de un registro del lado izquierdo y el detalle del lado opuesto. </a:t>
            </a:r>
          </a:p>
          <a:p>
            <a:endParaRPr lang="en-US" dirty="0"/>
          </a:p>
        </p:txBody>
      </p:sp>
      <p:sp>
        <p:nvSpPr>
          <p:cNvPr id="2" name="AutoShape 2" descr="HowToSelectAFormPattern (3)">
            <a:extLst>
              <a:ext uri="{FF2B5EF4-FFF2-40B4-BE49-F238E27FC236}">
                <a16:creationId xmlns:a16="http://schemas.microsoft.com/office/drawing/2014/main" id="{D0CAA5D2-0DEC-4811-B9A9-81994832D82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2013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42" name="Picture 2" descr="https://docs.microsoft.com/en-us/dynamics365/unified-operations/dev-itpro/user-interface/media/howtoselectaformpattern-10.jpg">
            <a:extLst>
              <a:ext uri="{FF2B5EF4-FFF2-40B4-BE49-F238E27FC236}">
                <a16:creationId xmlns:a16="http://schemas.microsoft.com/office/drawing/2014/main" id="{63CECEEB-4BCF-4C73-AF15-82A9972AD8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9211" y="1649964"/>
            <a:ext cx="5571031" cy="3531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255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8AB13-3931-45AA-A985-585A41452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Laboratorio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B5D247-1F10-44F5-900A-858DE70D33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s-MX" dirty="0"/>
          </a:p>
          <a:p>
            <a:r>
              <a:rPr lang="es-MX" dirty="0"/>
              <a:t>-Crear Formulario</a:t>
            </a:r>
          </a:p>
          <a:p>
            <a:r>
              <a:rPr lang="es-MX" dirty="0"/>
              <a:t>-Ligar tabla de ejercicio anterior y crear listado de datos</a:t>
            </a:r>
          </a:p>
          <a:p>
            <a:r>
              <a:rPr lang="es-MX" dirty="0"/>
              <a:t>-Verificar que se puedan crear, modificar y borrar datos</a:t>
            </a:r>
          </a:p>
          <a:p>
            <a:r>
              <a:rPr lang="es-MX" dirty="0">
                <a:hlinkClick r:id="rId2"/>
              </a:rPr>
              <a:t>https://docs.microsoft.com/en-us/dynamics365/fin-ops-core/dev-itpro/user-interface/build-customer-form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73122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2B203-C312-41FF-BBF5-7A5CD8C90F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F88B23-7EC0-4E17-AC63-C785ECFD8EE9}"/>
              </a:ext>
            </a:extLst>
          </p:cNvPr>
          <p:cNvSpPr txBox="1"/>
          <p:nvPr/>
        </p:nvSpPr>
        <p:spPr>
          <a:xfrm>
            <a:off x="1522413" y="2133600"/>
            <a:ext cx="944879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Objetos que se encargan de la ejecución de la lógica de negocio.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Puedes ser ejecutados por </a:t>
            </a:r>
            <a:r>
              <a:rPr lang="es-MX" dirty="0" err="1"/>
              <a:t>menus</a:t>
            </a:r>
            <a:r>
              <a:rPr lang="es-MX" dirty="0"/>
              <a:t> o por acciones en controles de formularios.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Pueden heredar (Extender) otras clases.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Pueden ser Extendidas por otras clases.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Puedes ser implementadas por otras clases.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Puedes implementar otras clases.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Dependiendo de su herencia o implementación de otras clases es posible sobrescribir, sobrecargar métodos.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/>
          </a:p>
          <a:p>
            <a:r>
              <a:rPr lang="es-MX" dirty="0" err="1"/>
              <a:t>Classes</a:t>
            </a:r>
            <a:r>
              <a:rPr lang="es-MX" dirty="0"/>
              <a:t> &amp; </a:t>
            </a:r>
            <a:r>
              <a:rPr lang="es-MX" dirty="0" err="1"/>
              <a:t>méthods</a:t>
            </a:r>
            <a:endParaRPr lang="es-MX" dirty="0"/>
          </a:p>
          <a:p>
            <a:r>
              <a:rPr lang="en-US" dirty="0">
                <a:hlinkClick r:id="rId2"/>
              </a:rPr>
              <a:t>https://docs.microsoft.com/en-us/dynamics365/unified-operations/dev-itpro/dev-ref/xpp-classes-methods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3955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Personalización</a:t>
            </a:r>
            <a:r>
              <a:rPr lang="en-US" dirty="0"/>
              <a:t> de Código (</a:t>
            </a:r>
            <a:r>
              <a:rPr lang="en-US" dirty="0" err="1"/>
              <a:t>Overlayering</a:t>
            </a:r>
            <a:r>
              <a:rPr lang="en-US" dirty="0"/>
              <a:t>) y extension de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2B203-C312-41FF-BBF5-7A5CD8C90F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F88B23-7EC0-4E17-AC63-C785ECFD8EE9}"/>
              </a:ext>
            </a:extLst>
          </p:cNvPr>
          <p:cNvSpPr txBox="1"/>
          <p:nvPr/>
        </p:nvSpPr>
        <p:spPr>
          <a:xfrm>
            <a:off x="1522413" y="2133600"/>
            <a:ext cx="944879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Existen dos formas de agregar lógica de código a la funcionalidad nativa: </a:t>
            </a:r>
            <a:r>
              <a:rPr lang="es-MX" dirty="0" err="1"/>
              <a:t>Overlayering</a:t>
            </a:r>
            <a:r>
              <a:rPr lang="es-MX" dirty="0"/>
              <a:t> y </a:t>
            </a:r>
            <a:r>
              <a:rPr lang="es-MX" dirty="0" err="1"/>
              <a:t>Extension</a:t>
            </a:r>
            <a:endParaRPr lang="es-MX" dirty="0"/>
          </a:p>
          <a:p>
            <a:endParaRPr lang="es-MX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 err="1"/>
              <a:t>Overlayering</a:t>
            </a:r>
            <a:r>
              <a:rPr lang="es-MX" dirty="0"/>
              <a:t>: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s-MX" dirty="0"/>
              <a:t>Código intrusivo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s-MX" dirty="0"/>
              <a:t>Afecta directamente el código nativo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s-MX" dirty="0"/>
              <a:t>Cuando hay que aplicar parches se debe de hacer mezcla de código ya que el código del parche es afectado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s-MX" dirty="0"/>
              <a:t>No se recomienda utilizar este tipo de personalización salvo que sea el ultimo recurso disponible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s-MX" dirty="0"/>
              <a:t>Microsoft ha descontinuado esta forma de programar para su código en versiones recientes (8.0 en adelante)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/>
          </a:p>
          <a:p>
            <a:r>
              <a:rPr lang="es-MX" dirty="0" err="1"/>
              <a:t>Overlayering</a:t>
            </a:r>
            <a:r>
              <a:rPr lang="es-MX" dirty="0"/>
              <a:t> &amp; </a:t>
            </a:r>
            <a:r>
              <a:rPr lang="es-MX" dirty="0" err="1"/>
              <a:t>intrusion</a:t>
            </a:r>
            <a:endParaRPr lang="es-MX" dirty="0"/>
          </a:p>
          <a:p>
            <a:r>
              <a:rPr lang="en-US" dirty="0">
                <a:hlinkClick r:id="rId2"/>
              </a:rPr>
              <a:t>https://docs.microsoft.com/en-us/dynamics365/unified-operations/dev-itpro/extensibility/intrusive-customizations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94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Personalización de código (</a:t>
            </a:r>
            <a:r>
              <a:rPr lang="es-MX" dirty="0" err="1"/>
              <a:t>Overlayering</a:t>
            </a:r>
            <a:r>
              <a:rPr lang="es-MX" dirty="0"/>
              <a:t>) y </a:t>
            </a:r>
            <a:r>
              <a:rPr lang="es-MX" dirty="0" err="1"/>
              <a:t>extension</a:t>
            </a:r>
            <a:r>
              <a:rPr lang="es-MX" dirty="0"/>
              <a:t> de </a:t>
            </a:r>
            <a:r>
              <a:rPr lang="es-MX" dirty="0" err="1"/>
              <a:t>classes</a:t>
            </a:r>
            <a:endParaRPr lang="es-MX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2B203-C312-41FF-BBF5-7A5CD8C90F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F88B23-7EC0-4E17-AC63-C785ECFD8EE9}"/>
              </a:ext>
            </a:extLst>
          </p:cNvPr>
          <p:cNvSpPr txBox="1"/>
          <p:nvPr/>
        </p:nvSpPr>
        <p:spPr>
          <a:xfrm>
            <a:off x="1494052" y="1752600"/>
            <a:ext cx="9448799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MX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 err="1"/>
              <a:t>Extension</a:t>
            </a:r>
            <a:r>
              <a:rPr lang="es-MX" dirty="0"/>
              <a:t>: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s-MX" dirty="0" err="1"/>
              <a:t>Add-on</a:t>
            </a:r>
            <a:r>
              <a:rPr lang="es-MX" dirty="0"/>
              <a:t> al código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s-MX" dirty="0"/>
              <a:t>El código de la capa SYS y de la aplicación queda intacto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s-MX" dirty="0"/>
              <a:t>Ejecuta una cadena de comando , es decir se ejecuta el código de la aplicación y el código de la extensión en el orden que sea llamado en la clase.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s-MX" dirty="0"/>
              <a:t>Solo se pueden extender métodos públicos y protegidos de las clases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s-MX" dirty="0"/>
              <a:t>En la ejecución de comandos es requerido que siempre se llame al método original, no puede ser condicionada su llamada y no puede terminarse la ejecución del método antes de llamar a este.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s-MX" dirty="0"/>
              <a:t>Es posible que para llegar al resultado deseado deba de </a:t>
            </a:r>
            <a:r>
              <a:rPr lang="es-MX" dirty="0" err="1"/>
              <a:t>modificars</a:t>
            </a:r>
            <a:r>
              <a:rPr lang="es-MX" dirty="0"/>
              <a:t>/reescribirse completamente la lógica de este método y todas las clases ligadas.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s-MX" dirty="0"/>
              <a:t>No afecta a parches por lo tanto es mas fácil realizar </a:t>
            </a:r>
            <a:r>
              <a:rPr lang="es-MX" dirty="0" err="1"/>
              <a:t>upgrade</a:t>
            </a:r>
            <a:r>
              <a:rPr lang="es-MX" dirty="0"/>
              <a:t>, aun </a:t>
            </a:r>
            <a:r>
              <a:rPr lang="es-MX" dirty="0" err="1"/>
              <a:t>asi</a:t>
            </a:r>
            <a:r>
              <a:rPr lang="es-MX" dirty="0"/>
              <a:t> se recomienda revisar el código del parche si es necesario agregar funcionalidad de esta a las extensiones.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/>
          </a:p>
          <a:p>
            <a:r>
              <a:rPr lang="es-MX" dirty="0" err="1"/>
              <a:t>Overlayering</a:t>
            </a:r>
            <a:r>
              <a:rPr lang="es-MX" dirty="0"/>
              <a:t> &amp; </a:t>
            </a:r>
            <a:r>
              <a:rPr lang="es-MX" dirty="0" err="1"/>
              <a:t>intrusion</a:t>
            </a:r>
            <a:endParaRPr lang="es-MX" dirty="0"/>
          </a:p>
          <a:p>
            <a:r>
              <a:rPr lang="en-US" dirty="0">
                <a:hlinkClick r:id="rId2"/>
              </a:rPr>
              <a:t>https://docs.microsoft.com/en-us/dynamics365/unified-operations/dev-itpro/extensibility/intrusive-customizations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1744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Modificación</a:t>
            </a:r>
            <a:r>
              <a:rPr lang="en-US" dirty="0"/>
              <a:t> por medio de Event handlers y </a:t>
            </a:r>
            <a:r>
              <a:rPr lang="en-US" dirty="0" err="1"/>
              <a:t>Delegados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2B203-C312-41FF-BBF5-7A5CD8C90F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F88B23-7EC0-4E17-AC63-C785ECFD8EE9}"/>
              </a:ext>
            </a:extLst>
          </p:cNvPr>
          <p:cNvSpPr txBox="1"/>
          <p:nvPr/>
        </p:nvSpPr>
        <p:spPr>
          <a:xfrm>
            <a:off x="1494052" y="1752600"/>
            <a:ext cx="944879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MX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Otra forma de modificar objetos de la aplicación es por medio de </a:t>
            </a:r>
            <a:r>
              <a:rPr lang="es-MX" dirty="0" err="1"/>
              <a:t>EventHandlers</a:t>
            </a:r>
            <a:r>
              <a:rPr lang="es-MX" dirty="0"/>
              <a:t> o Delegates.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Event Handlers, son suscripciones a métodos de los objetos, se crea una clase a partir de valores del objeto en cuestión y esto permite modificar su funcionalidad.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Delegates son suscripciones dentro de ciertas clases u objetos, los cuales permiten, al igual que los </a:t>
            </a:r>
            <a:r>
              <a:rPr lang="es-MX" dirty="0" err="1"/>
              <a:t>event</a:t>
            </a:r>
            <a:r>
              <a:rPr lang="es-MX" dirty="0"/>
              <a:t> </a:t>
            </a:r>
            <a:r>
              <a:rPr lang="es-MX" dirty="0" err="1"/>
              <a:t>handlers</a:t>
            </a:r>
            <a:r>
              <a:rPr lang="es-MX" dirty="0"/>
              <a:t>, definir las acciones a tomar.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Event Handlers se manejan principalmente sobre controles de formularios y acciones en tablas o formularios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Delegates son suscripciones, ganchos a funcionalidad de lógica de negocios.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/>
          </a:p>
          <a:p>
            <a:r>
              <a:rPr lang="es-MX" dirty="0"/>
              <a:t>Event Handlers y Delegates</a:t>
            </a:r>
          </a:p>
          <a:p>
            <a:r>
              <a:rPr lang="en-US" dirty="0">
                <a:hlinkClick r:id="rId2"/>
              </a:rPr>
              <a:t>https://community.dynamics.com/365/financeandoperations/b/sertansdynamicsax/archive/2017/05/01/ax7-extensibility-part-3-event-handlers-and-delegates-hooks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6744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8AB13-3931-45AA-A985-585A41452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Laboratorio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B5D247-1F10-44F5-900A-858DE70D33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 lang="es-MX" dirty="0"/>
          </a:p>
          <a:p>
            <a:r>
              <a:rPr lang="es-MX" dirty="0" err="1"/>
              <a:t>Modificacion</a:t>
            </a:r>
            <a:r>
              <a:rPr lang="es-MX" dirty="0"/>
              <a:t> por medio de extensiones</a:t>
            </a:r>
          </a:p>
          <a:p>
            <a:r>
              <a:rPr lang="es-MX" dirty="0"/>
              <a:t>Modificar Formularios</a:t>
            </a:r>
          </a:p>
          <a:p>
            <a:r>
              <a:rPr lang="es-MX" dirty="0"/>
              <a:t>Modificar Tablas</a:t>
            </a:r>
          </a:p>
          <a:p>
            <a:r>
              <a:rPr lang="es-MX" dirty="0"/>
              <a:t>Agregar métodos y funcionalidad a clases</a:t>
            </a:r>
          </a:p>
          <a:p>
            <a:r>
              <a:rPr lang="es-MX" dirty="0">
                <a:hlinkClick r:id="rId2"/>
              </a:rPr>
              <a:t>https://docs.microsoft.com/en-us/dynamics365/fin-ops-core/dev-itpro/dev-tools/create-data-model-elements</a:t>
            </a:r>
            <a:endParaRPr lang="es-MX" dirty="0"/>
          </a:p>
          <a:p>
            <a:r>
              <a:rPr lang="es-MX">
                <a:hlinkClick r:id="rId3"/>
              </a:rPr>
              <a:t>https://docs.microsoft.com/en-us/dynamics365/fin-ops-core/dev-itpro/extensibility/customize-model-elements-extensions#installing-the-demo-data</a:t>
            </a:r>
            <a:endParaRPr lang="es-MX"/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95055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SSRS </a:t>
            </a:r>
            <a:r>
              <a:rPr lang="es-MX" dirty="0"/>
              <a:t>Creación</a:t>
            </a:r>
            <a:r>
              <a:rPr lang="en-US" dirty="0"/>
              <a:t> y extension de </a:t>
            </a:r>
            <a:r>
              <a:rPr lang="es-MX" dirty="0"/>
              <a:t>Reportes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2B203-C312-41FF-BBF5-7A5CD8C90F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F88B23-7EC0-4E17-AC63-C785ECFD8EE9}"/>
              </a:ext>
            </a:extLst>
          </p:cNvPr>
          <p:cNvSpPr txBox="1"/>
          <p:nvPr/>
        </p:nvSpPr>
        <p:spPr>
          <a:xfrm>
            <a:off x="1494052" y="1752600"/>
            <a:ext cx="944879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MX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Reportes son objetos de la aplicación que sirven para crear informes a partir de ciertas consultas, tablas y/o información agregada por un desarrollador a un informe de SQL </a:t>
            </a:r>
            <a:r>
              <a:rPr lang="es-MX" dirty="0" err="1"/>
              <a:t>Reporting</a:t>
            </a:r>
            <a:r>
              <a:rPr lang="es-MX" dirty="0"/>
              <a:t> </a:t>
            </a:r>
            <a:r>
              <a:rPr lang="es-MX" dirty="0" err="1"/>
              <a:t>Services</a:t>
            </a:r>
            <a:endParaRPr lang="es-MX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Se puede elegir entre un reporte automático o con diseño personalizado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Se recomienda utilizar diseño personalizado ya que permite modificar el reporte a las necesidades del negocio-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Solo usar reportes automáticos si no se requiere un diseño en especifico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Utilizar tablas en memoria, temporales o regulares dependiendo de la necesidad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Usar </a:t>
            </a:r>
            <a:r>
              <a:rPr lang="es-MX" dirty="0" err="1"/>
              <a:t>queries</a:t>
            </a:r>
            <a:r>
              <a:rPr lang="es-MX" dirty="0"/>
              <a:t> o clases Data </a:t>
            </a:r>
            <a:r>
              <a:rPr lang="es-MX" dirty="0" err="1"/>
              <a:t>Provider</a:t>
            </a:r>
            <a:r>
              <a:rPr lang="es-MX" dirty="0"/>
              <a:t> dependiendo de la necesidad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/>
          </a:p>
          <a:p>
            <a:r>
              <a:rPr lang="es-MX" dirty="0"/>
              <a:t>Event Handlers y Delegates</a:t>
            </a:r>
          </a:p>
          <a:p>
            <a:r>
              <a:rPr lang="en-US" dirty="0">
                <a:hlinkClick r:id="rId2"/>
              </a:rPr>
              <a:t>https://technet.microsoft.com/en-us/library/ee873263.aspx</a:t>
            </a:r>
          </a:p>
          <a:p>
            <a:r>
              <a:rPr lang="en-US" dirty="0">
                <a:hlinkClick r:id="rId2"/>
              </a:rPr>
              <a:t>https://community.dynamics.com/ax/b/dynamics101trainingcenterax/archive/2013/09/16/developing-a-ssrs-report-using-the-report-data-provider-in-microsoft-dynamics-ax-2012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625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Tipos de tablas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2B203-C312-41FF-BBF5-7A5CD8C90F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F88B23-7EC0-4E17-AC63-C785ECFD8EE9}"/>
              </a:ext>
            </a:extLst>
          </p:cNvPr>
          <p:cNvSpPr txBox="1"/>
          <p:nvPr/>
        </p:nvSpPr>
        <p:spPr>
          <a:xfrm>
            <a:off x="1494052" y="1752600"/>
            <a:ext cx="944879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MX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Tablas Regulares</a:t>
            </a:r>
            <a:r>
              <a:rPr lang="en-US" dirty="0"/>
              <a:t>: Son </a:t>
            </a:r>
            <a:r>
              <a:rPr lang="es-MX" dirty="0"/>
              <a:t>aquellas que trabajan de forma normal en la aplicación, se ingresan datos, se borran datos, se pueden consultar en todo momento y la información viaja y es guardada en registros de Base de Datos SQL para ser consultados/utilizados cuando se requieran.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Temporales</a:t>
            </a:r>
            <a:r>
              <a:rPr lang="en-US" dirty="0"/>
              <a:t>:</a:t>
            </a:r>
            <a:r>
              <a:rPr lang="es-MX" dirty="0"/>
              <a:t> Son tablas que, como su nombre lo indica, tienen un periodo de vida temporal, solo viven mientras el objeto tenga una instancia y los datos que se ingresen, consulten y borren solo son parte de esta instancia. En caso de terminar la instancia los datos son borrados. Instancias adicionales cuentan con sus propios datos. Son objetos de SQL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En Memoria: Son tablas temporales que existen en memoria del Sistema, tienen una capacidad limitada (1000 registros máximo). Tienen el mismo propósito que las tablas temporales , son utilizadas cuando se sabe que la table en cuestión cuenta con pocos registros y no es requerido usar espacio en SQL para el recurso.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/>
          </a:p>
          <a:p>
            <a:r>
              <a:rPr lang="es-MX" dirty="0"/>
              <a:t>Tipos de Tablas</a:t>
            </a:r>
          </a:p>
          <a:p>
            <a:r>
              <a:rPr lang="en-US" dirty="0">
                <a:hlinkClick r:id="rId2"/>
              </a:rPr>
              <a:t>https://msdn.microsoft.com/en-us/library/bb314749.aspx</a:t>
            </a:r>
            <a:endParaRPr lang="en-US" dirty="0"/>
          </a:p>
          <a:p>
            <a:r>
              <a:rPr lang="en-US" dirty="0">
                <a:hlinkClick r:id="rId3"/>
              </a:rPr>
              <a:t>https://msdn.microsoft.com/en-us/library/gg845661.aspx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941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Formas de obtener </a:t>
            </a:r>
            <a:r>
              <a:rPr lang="es-MX" dirty="0" err="1"/>
              <a:t>datasources</a:t>
            </a:r>
            <a:r>
              <a:rPr lang="es-MX" dirty="0"/>
              <a:t> en reporte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2B203-C312-41FF-BBF5-7A5CD8C90F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F88B23-7EC0-4E17-AC63-C785ECFD8EE9}"/>
              </a:ext>
            </a:extLst>
          </p:cNvPr>
          <p:cNvSpPr txBox="1"/>
          <p:nvPr/>
        </p:nvSpPr>
        <p:spPr>
          <a:xfrm>
            <a:off x="1494052" y="1752600"/>
            <a:ext cx="944879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MX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Query: Se </a:t>
            </a:r>
            <a:r>
              <a:rPr lang="en-US" dirty="0" err="1"/>
              <a:t>crea</a:t>
            </a:r>
            <a:r>
              <a:rPr lang="en-US" dirty="0"/>
              <a:t> un </a:t>
            </a:r>
            <a:r>
              <a:rPr lang="en-US" dirty="0" err="1"/>
              <a:t>objeto</a:t>
            </a:r>
            <a:r>
              <a:rPr lang="en-US" dirty="0"/>
              <a:t> de </a:t>
            </a:r>
            <a:r>
              <a:rPr lang="en-US" dirty="0" err="1"/>
              <a:t>tipo</a:t>
            </a:r>
            <a:r>
              <a:rPr lang="en-US" dirty="0"/>
              <a:t> Query </a:t>
            </a:r>
            <a:r>
              <a:rPr lang="en-US" dirty="0" err="1"/>
              <a:t>en</a:t>
            </a:r>
            <a:r>
              <a:rPr lang="en-US" dirty="0"/>
              <a:t> la </a:t>
            </a:r>
            <a:r>
              <a:rPr lang="en-US" dirty="0" err="1"/>
              <a:t>aplicacion</a:t>
            </a:r>
            <a:r>
              <a:rPr lang="en-US" dirty="0"/>
              <a:t> y </a:t>
            </a:r>
            <a:r>
              <a:rPr lang="en-US" dirty="0" err="1"/>
              <a:t>este</a:t>
            </a:r>
            <a:r>
              <a:rPr lang="en-US" dirty="0"/>
              <a:t> es </a:t>
            </a:r>
            <a:r>
              <a:rPr lang="en-US" dirty="0" err="1"/>
              <a:t>utilizado</a:t>
            </a:r>
            <a:r>
              <a:rPr lang="en-US" dirty="0"/>
              <a:t> para </a:t>
            </a:r>
            <a:r>
              <a:rPr lang="en-US" dirty="0" err="1"/>
              <a:t>consultar</a:t>
            </a:r>
            <a:r>
              <a:rPr lang="en-US" dirty="0"/>
              <a:t> </a:t>
            </a:r>
            <a:r>
              <a:rPr lang="en-US" dirty="0" err="1"/>
              <a:t>datos</a:t>
            </a:r>
            <a:r>
              <a:rPr lang="en-US" dirty="0"/>
              <a:t> y </a:t>
            </a:r>
            <a:r>
              <a:rPr lang="en-US" dirty="0" err="1"/>
              <a:t>llenar</a:t>
            </a:r>
            <a:r>
              <a:rPr lang="en-US" dirty="0"/>
              <a:t> los </a:t>
            </a:r>
            <a:r>
              <a:rPr lang="en-US" dirty="0" err="1"/>
              <a:t>datos</a:t>
            </a:r>
            <a:r>
              <a:rPr lang="en-US" dirty="0"/>
              <a:t> de </a:t>
            </a:r>
            <a:r>
              <a:rPr lang="en-US" dirty="0" err="1"/>
              <a:t>reporte</a:t>
            </a:r>
            <a:r>
              <a:rPr lang="en-US" dirty="0"/>
              <a:t> </a:t>
            </a:r>
            <a:r>
              <a:rPr lang="en-US" dirty="0" err="1"/>
              <a:t>mediante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datasource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Provider: Se </a:t>
            </a:r>
            <a:r>
              <a:rPr lang="en-US" dirty="0" err="1"/>
              <a:t>crea</a:t>
            </a:r>
            <a:r>
              <a:rPr lang="en-US" dirty="0"/>
              <a:t> una </a:t>
            </a:r>
            <a:r>
              <a:rPr lang="en-US" dirty="0" err="1"/>
              <a:t>clase</a:t>
            </a:r>
            <a:r>
              <a:rPr lang="en-US" dirty="0"/>
              <a:t> la </a:t>
            </a:r>
            <a:r>
              <a:rPr lang="en-US" dirty="0" err="1"/>
              <a:t>cual</a:t>
            </a:r>
            <a:r>
              <a:rPr lang="en-US" dirty="0"/>
              <a:t> </a:t>
            </a:r>
            <a:r>
              <a:rPr lang="en-US" dirty="0" err="1"/>
              <a:t>hereda</a:t>
            </a:r>
            <a:r>
              <a:rPr lang="en-US" dirty="0"/>
              <a:t> de </a:t>
            </a:r>
            <a:r>
              <a:rPr lang="es-MX" b="1" dirty="0" err="1"/>
              <a:t>SRSReportDataProviderBase</a:t>
            </a:r>
            <a:r>
              <a:rPr lang="es-MX" b="1" dirty="0"/>
              <a:t> o </a:t>
            </a:r>
            <a:r>
              <a:rPr lang="es-MX" dirty="0"/>
              <a:t>clases que a su vez heredan de esta misma, para poder generar los objetos de consulta necesarios, la interfaz donde se llenaran los parámetros en el reporte.</a:t>
            </a:r>
            <a:endParaRPr lang="es-MX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/>
          </a:p>
          <a:p>
            <a:r>
              <a:rPr lang="es-MX" dirty="0" err="1"/>
              <a:t>Report</a:t>
            </a:r>
            <a:r>
              <a:rPr lang="es-MX" dirty="0"/>
              <a:t> </a:t>
            </a:r>
            <a:r>
              <a:rPr lang="es-MX" dirty="0" err="1"/>
              <a:t>DataSource</a:t>
            </a:r>
            <a:r>
              <a:rPr lang="es-MX" dirty="0"/>
              <a:t> &amp; Data </a:t>
            </a:r>
            <a:r>
              <a:rPr lang="es-MX" dirty="0" err="1"/>
              <a:t>Provider</a:t>
            </a:r>
            <a:endParaRPr lang="es-MX" dirty="0"/>
          </a:p>
          <a:p>
            <a:r>
              <a:rPr lang="en-US" dirty="0">
                <a:hlinkClick r:id="rId2"/>
              </a:rPr>
              <a:t>https://technet.microsoft.com/en-us/library/gg731917.aspx</a:t>
            </a:r>
            <a:endParaRPr lang="en-US" dirty="0"/>
          </a:p>
          <a:p>
            <a:r>
              <a:rPr lang="en-US" dirty="0">
                <a:hlinkClick r:id="rId3"/>
              </a:rPr>
              <a:t>https://technet.microsoft.com/en-us/library/cc569526.aspx</a:t>
            </a:r>
            <a:endParaRPr lang="en-US" dirty="0"/>
          </a:p>
          <a:p>
            <a:r>
              <a:rPr lang="es-MX" dirty="0" err="1"/>
              <a:t>Queries</a:t>
            </a:r>
            <a:endParaRPr lang="en-US" dirty="0">
              <a:hlinkClick r:id="rId4"/>
            </a:endParaRPr>
          </a:p>
          <a:p>
            <a:r>
              <a:rPr lang="en-US" dirty="0">
                <a:hlinkClick r:id="rId4"/>
              </a:rPr>
              <a:t>https://technet.microsoft.com/en-us/library/hh456301.aspx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677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</a:t>
            </a:r>
            <a:r>
              <a:rPr lang="es-MX" dirty="0" err="1"/>
              <a:t>lases</a:t>
            </a:r>
            <a:r>
              <a:rPr lang="es-MX" dirty="0"/>
              <a:t> Data </a:t>
            </a:r>
            <a:r>
              <a:rPr lang="es-MX" dirty="0" err="1"/>
              <a:t>Provider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2B203-C312-41FF-BBF5-7A5CD8C90F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F88B23-7EC0-4E17-AC63-C785ECFD8EE9}"/>
              </a:ext>
            </a:extLst>
          </p:cNvPr>
          <p:cNvSpPr txBox="1"/>
          <p:nvPr/>
        </p:nvSpPr>
        <p:spPr>
          <a:xfrm>
            <a:off x="1494052" y="1752600"/>
            <a:ext cx="944879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MX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Debe </a:t>
            </a:r>
            <a:r>
              <a:rPr lang="es-MX" dirty="0"/>
              <a:t>crearse una clase la cual hereda </a:t>
            </a:r>
            <a:r>
              <a:rPr lang="en-US" dirty="0"/>
              <a:t>de </a:t>
            </a:r>
            <a:r>
              <a:rPr lang="es-MX" b="1" dirty="0" err="1"/>
              <a:t>SRSReportDataProviderBase</a:t>
            </a:r>
            <a:r>
              <a:rPr lang="es-MX" b="1" dirty="0"/>
              <a:t> o </a:t>
            </a:r>
            <a:r>
              <a:rPr lang="es-MX" dirty="0"/>
              <a:t>clases que a su vez heredan de esta misma, para poder generar los objetos de consulta necesarios, la interfaz donde se llenaran los parámetros en el reporte.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</a:t>
            </a:r>
            <a:r>
              <a:rPr lang="es-MX" dirty="0"/>
              <a:t>os reportes necesitan de una clase contrato, esta ayuda a definir de forma manual parámetros a utilizar en el reporte.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</a:t>
            </a:r>
            <a:r>
              <a:rPr lang="es-MX" dirty="0"/>
              <a:t>e puede ligar un objeto </a:t>
            </a:r>
            <a:r>
              <a:rPr lang="es-MX" dirty="0" err="1"/>
              <a:t>Query</a:t>
            </a:r>
            <a:r>
              <a:rPr lang="es-MX" dirty="0"/>
              <a:t> a la clase DP para obtener información de los registros a mostrar y procesar dicha información mediante lógica de negocio, para definir el </a:t>
            </a:r>
            <a:r>
              <a:rPr lang="es-MX" dirty="0" err="1"/>
              <a:t>Query</a:t>
            </a:r>
            <a:r>
              <a:rPr lang="es-MX" dirty="0"/>
              <a:t> se debe de utilizar la propiedad </a:t>
            </a:r>
            <a:r>
              <a:rPr lang="es-MX" b="1" dirty="0"/>
              <a:t>[</a:t>
            </a:r>
            <a:r>
              <a:rPr lang="es-MX" b="1" dirty="0" err="1"/>
              <a:t>SRSQueryAttribute</a:t>
            </a:r>
            <a:r>
              <a:rPr lang="es-MX" b="1" dirty="0"/>
              <a:t>(</a:t>
            </a:r>
            <a:r>
              <a:rPr lang="es-MX" b="1" dirty="0" err="1"/>
              <a:t>queryStr</a:t>
            </a:r>
            <a:r>
              <a:rPr lang="es-MX" b="1" dirty="0"/>
              <a:t>(MI_QUERY))] </a:t>
            </a:r>
            <a:r>
              <a:rPr lang="es-MX" dirty="0"/>
              <a:t>para definir el objeto </a:t>
            </a:r>
            <a:r>
              <a:rPr lang="es-MX" dirty="0" err="1"/>
              <a:t>query</a:t>
            </a:r>
            <a:r>
              <a:rPr lang="es-MX" dirty="0"/>
              <a:t> a usar.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</a:t>
            </a:r>
            <a:r>
              <a:rPr lang="es-MX" dirty="0"/>
              <a:t>i se desea utilizar la clase contrato para definir parámetros o parámetros adicionales a aquellos con los que cuenta el </a:t>
            </a:r>
            <a:r>
              <a:rPr lang="es-MX" dirty="0" err="1"/>
              <a:t>query</a:t>
            </a:r>
            <a:r>
              <a:rPr lang="es-MX" dirty="0"/>
              <a:t> se debe de usar la propiedad </a:t>
            </a:r>
            <a:r>
              <a:rPr lang="es-MX" b="1" dirty="0"/>
              <a:t>[</a:t>
            </a:r>
            <a:r>
              <a:rPr lang="es-MX" b="1" dirty="0" err="1"/>
              <a:t>SRSReportParameterAttribute</a:t>
            </a:r>
            <a:r>
              <a:rPr lang="es-MX" b="1" dirty="0"/>
              <a:t>(</a:t>
            </a:r>
            <a:r>
              <a:rPr lang="es-MX" b="1" dirty="0" err="1"/>
              <a:t>classStr</a:t>
            </a:r>
            <a:r>
              <a:rPr lang="es-MX" b="1" dirty="0"/>
              <a:t>(</a:t>
            </a:r>
            <a:r>
              <a:rPr lang="es-MX" b="1" dirty="0" err="1"/>
              <a:t>Contract_Class</a:t>
            </a:r>
            <a:r>
              <a:rPr lang="es-MX" b="1" dirty="0"/>
              <a:t>))]</a:t>
            </a:r>
            <a:endParaRPr lang="es-MX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/>
          </a:p>
          <a:p>
            <a:r>
              <a:rPr lang="es-MX" dirty="0"/>
              <a:t>Creación</a:t>
            </a:r>
            <a:r>
              <a:rPr lang="en-US" dirty="0"/>
              <a:t> de </a:t>
            </a:r>
            <a:r>
              <a:rPr lang="en-US" dirty="0" err="1"/>
              <a:t>Reportes</a:t>
            </a:r>
            <a:r>
              <a:rPr lang="en-US" dirty="0"/>
              <a:t> con </a:t>
            </a:r>
            <a:r>
              <a:rPr lang="en-US" dirty="0" err="1"/>
              <a:t>clases</a:t>
            </a:r>
            <a:r>
              <a:rPr lang="en-US" dirty="0"/>
              <a:t> DP, </a:t>
            </a:r>
            <a:r>
              <a:rPr lang="en-US" dirty="0" err="1"/>
              <a:t>clases</a:t>
            </a:r>
            <a:r>
              <a:rPr lang="en-US" dirty="0"/>
              <a:t> </a:t>
            </a:r>
            <a:r>
              <a:rPr lang="en-US" dirty="0" err="1"/>
              <a:t>contrato</a:t>
            </a:r>
            <a:r>
              <a:rPr lang="en-US" dirty="0"/>
              <a:t>.</a:t>
            </a:r>
          </a:p>
          <a:p>
            <a:r>
              <a:rPr lang="en-US" dirty="0">
                <a:hlinkClick r:id="rId2"/>
              </a:rPr>
              <a:t>https://community.dynamics.com/ax/b/faisalfareedaxlibrary/archive/2014/12/27/rdp-contract-ui-builder-and-controller-classes-for-ssrs-report-development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470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</a:t>
            </a:r>
            <a:r>
              <a:rPr lang="es-MX" dirty="0" err="1"/>
              <a:t>lases</a:t>
            </a:r>
            <a:r>
              <a:rPr lang="es-MX" dirty="0"/>
              <a:t> Data </a:t>
            </a:r>
            <a:r>
              <a:rPr lang="es-MX" dirty="0" err="1"/>
              <a:t>Provider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2B203-C312-41FF-BBF5-7A5CD8C90F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F88B23-7EC0-4E17-AC63-C785ECFD8EE9}"/>
              </a:ext>
            </a:extLst>
          </p:cNvPr>
          <p:cNvSpPr txBox="1"/>
          <p:nvPr/>
        </p:nvSpPr>
        <p:spPr>
          <a:xfrm>
            <a:off x="1494052" y="1752600"/>
            <a:ext cx="944879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MX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 </a:t>
            </a:r>
            <a:r>
              <a:rPr lang="en-US" dirty="0" err="1"/>
              <a:t>puede</a:t>
            </a:r>
            <a:r>
              <a:rPr lang="en-US" dirty="0"/>
              <a:t> </a:t>
            </a:r>
            <a:r>
              <a:rPr lang="en-US" dirty="0" err="1"/>
              <a:t>llamar</a:t>
            </a:r>
            <a:r>
              <a:rPr lang="en-US" dirty="0"/>
              <a:t> una </a:t>
            </a:r>
            <a:r>
              <a:rPr lang="en-US" dirty="0" err="1"/>
              <a:t>reporte</a:t>
            </a:r>
            <a:r>
              <a:rPr lang="en-US" dirty="0"/>
              <a:t> </a:t>
            </a:r>
            <a:r>
              <a:rPr lang="en-US" dirty="0" err="1"/>
              <a:t>mediante</a:t>
            </a:r>
            <a:r>
              <a:rPr lang="en-US" dirty="0"/>
              <a:t> una </a:t>
            </a:r>
            <a:r>
              <a:rPr lang="en-US" dirty="0" err="1"/>
              <a:t>clase</a:t>
            </a:r>
            <a:r>
              <a:rPr lang="en-US" dirty="0"/>
              <a:t> Controller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Las </a:t>
            </a:r>
            <a:r>
              <a:rPr lang="en-US" dirty="0" err="1"/>
              <a:t>clases</a:t>
            </a:r>
            <a:r>
              <a:rPr lang="en-US" dirty="0"/>
              <a:t> controller </a:t>
            </a:r>
            <a:r>
              <a:rPr lang="en-US" dirty="0" err="1"/>
              <a:t>permiten</a:t>
            </a:r>
            <a:r>
              <a:rPr lang="en-US" dirty="0"/>
              <a:t> definer </a:t>
            </a:r>
            <a:r>
              <a:rPr lang="en-US" dirty="0" err="1"/>
              <a:t>ciertos</a:t>
            </a:r>
            <a:r>
              <a:rPr lang="en-US" dirty="0"/>
              <a:t> </a:t>
            </a:r>
            <a:r>
              <a:rPr lang="en-US" dirty="0" err="1"/>
              <a:t>parametros</a:t>
            </a:r>
            <a:r>
              <a:rPr lang="en-US" dirty="0"/>
              <a:t> </a:t>
            </a:r>
            <a:r>
              <a:rPr lang="en-US" dirty="0" err="1"/>
              <a:t>pertinentes</a:t>
            </a:r>
            <a:r>
              <a:rPr lang="en-US" dirty="0"/>
              <a:t> al </a:t>
            </a:r>
            <a:r>
              <a:rPr lang="en-US" dirty="0" err="1"/>
              <a:t>reporte</a:t>
            </a:r>
            <a:r>
              <a:rPr lang="en-US" dirty="0"/>
              <a:t> y </a:t>
            </a:r>
            <a:r>
              <a:rPr lang="en-US" dirty="0" err="1"/>
              <a:t>controlar</a:t>
            </a:r>
            <a:r>
              <a:rPr lang="en-US" dirty="0"/>
              <a:t> que </a:t>
            </a:r>
            <a:r>
              <a:rPr lang="en-US" dirty="0" err="1"/>
              <a:t>reporte</a:t>
            </a:r>
            <a:r>
              <a:rPr lang="en-US" dirty="0"/>
              <a:t> se </a:t>
            </a:r>
            <a:r>
              <a:rPr lang="en-US" dirty="0" err="1"/>
              <a:t>ejecutara</a:t>
            </a:r>
            <a:r>
              <a:rPr lang="en-US" dirty="0"/>
              <a:t>, </a:t>
            </a:r>
            <a:r>
              <a:rPr lang="en-US" dirty="0" err="1"/>
              <a:t>en</a:t>
            </a:r>
            <a:r>
              <a:rPr lang="en-US" dirty="0"/>
              <a:t> que </a:t>
            </a:r>
            <a:r>
              <a:rPr lang="en-US" dirty="0" err="1"/>
              <a:t>lenguaje</a:t>
            </a:r>
            <a:r>
              <a:rPr lang="en-US" dirty="0"/>
              <a:t>, </a:t>
            </a:r>
            <a:r>
              <a:rPr lang="en-US" dirty="0" err="1"/>
              <a:t>asi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otros</a:t>
            </a:r>
            <a:r>
              <a:rPr lang="en-US" dirty="0"/>
              <a:t> </a:t>
            </a:r>
            <a:r>
              <a:rPr lang="en-US" dirty="0" err="1"/>
              <a:t>parametros</a:t>
            </a:r>
            <a:r>
              <a:rPr lang="en-US" dirty="0"/>
              <a:t> o </a:t>
            </a:r>
            <a:r>
              <a:rPr lang="en-US" dirty="0" err="1"/>
              <a:t>argumentos</a:t>
            </a:r>
            <a:r>
              <a:rPr lang="en-US" dirty="0"/>
              <a:t> que </a:t>
            </a:r>
            <a:r>
              <a:rPr lang="en-US" dirty="0" err="1"/>
              <a:t>pertinen</a:t>
            </a:r>
            <a:r>
              <a:rPr lang="en-US" dirty="0"/>
              <a:t> a la </a:t>
            </a:r>
            <a:r>
              <a:rPr lang="en-US" dirty="0" err="1"/>
              <a:t>ejecucion</a:t>
            </a:r>
            <a:r>
              <a:rPr lang="en-US" dirty="0"/>
              <a:t> de la </a:t>
            </a:r>
            <a:r>
              <a:rPr lang="en-US" dirty="0" err="1"/>
              <a:t>operacion</a:t>
            </a:r>
            <a:r>
              <a:rPr lang="en-US" dirty="0"/>
              <a:t> de reports.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Las </a:t>
            </a:r>
            <a:r>
              <a:rPr lang="en-US" dirty="0" err="1"/>
              <a:t>clases</a:t>
            </a:r>
            <a:r>
              <a:rPr lang="en-US" dirty="0"/>
              <a:t> controller </a:t>
            </a:r>
            <a:r>
              <a:rPr lang="en-US" dirty="0" err="1"/>
              <a:t>deben</a:t>
            </a:r>
            <a:r>
              <a:rPr lang="en-US" dirty="0"/>
              <a:t> de </a:t>
            </a:r>
            <a:r>
              <a:rPr lang="en-US" dirty="0" err="1"/>
              <a:t>heredar</a:t>
            </a:r>
            <a:r>
              <a:rPr lang="en-US" dirty="0"/>
              <a:t> de la </a:t>
            </a:r>
            <a:r>
              <a:rPr lang="en-US" dirty="0" err="1"/>
              <a:t>clase</a:t>
            </a:r>
            <a:r>
              <a:rPr lang="en-US" dirty="0"/>
              <a:t> </a:t>
            </a:r>
            <a:r>
              <a:rPr lang="es-MX" b="1" dirty="0" err="1"/>
              <a:t>SrsReportRunController</a:t>
            </a:r>
            <a:r>
              <a:rPr lang="es-MX" dirty="0"/>
              <a:t> o alguna clase que herede de esta.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</a:t>
            </a:r>
            <a:r>
              <a:rPr lang="es-MX" dirty="0"/>
              <a:t>as clases </a:t>
            </a:r>
            <a:r>
              <a:rPr lang="es-MX" dirty="0" err="1"/>
              <a:t>controller</a:t>
            </a:r>
            <a:r>
              <a:rPr lang="es-MX" dirty="0"/>
              <a:t> y las clases contrato no se requiere se definan para la ejecución de un reporte, en caso de no especificarse alguna Dynamics usara la clase controlador y contrato por defecto.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/>
          </a:p>
          <a:p>
            <a:r>
              <a:rPr lang="es-MX" dirty="0"/>
              <a:t>Creación</a:t>
            </a:r>
            <a:r>
              <a:rPr lang="en-US" dirty="0"/>
              <a:t> de </a:t>
            </a:r>
            <a:r>
              <a:rPr lang="en-US" dirty="0" err="1"/>
              <a:t>Reportes</a:t>
            </a:r>
            <a:r>
              <a:rPr lang="en-US" dirty="0"/>
              <a:t> con </a:t>
            </a:r>
            <a:r>
              <a:rPr lang="en-US" dirty="0" err="1"/>
              <a:t>clases</a:t>
            </a:r>
            <a:r>
              <a:rPr lang="en-US" dirty="0"/>
              <a:t> DP, </a:t>
            </a:r>
            <a:r>
              <a:rPr lang="en-US" dirty="0" err="1"/>
              <a:t>clases</a:t>
            </a:r>
            <a:r>
              <a:rPr lang="en-US" dirty="0"/>
              <a:t> </a:t>
            </a:r>
            <a:r>
              <a:rPr lang="en-US" dirty="0" err="1"/>
              <a:t>contrato</a:t>
            </a:r>
            <a:r>
              <a:rPr lang="en-US" dirty="0"/>
              <a:t>.</a:t>
            </a:r>
          </a:p>
          <a:p>
            <a:r>
              <a:rPr lang="en-US" dirty="0">
                <a:hlinkClick r:id="rId2"/>
              </a:rPr>
              <a:t>https://community.dynamics.com/ax/b/faisalfareedaxlibrary/archive/2014/12/27/rdp-contract-ui-builder-and-controller-classes-for-ssrs-report-development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2227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heme/theme1.xml><?xml version="1.0" encoding="utf-8"?>
<a:theme xmlns:a="http://schemas.openxmlformats.org/drawingml/2006/main" name="Digital Blue Tunnel 16x9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2895261.potx" id="{4CBF9558-C12D-4F51-9AA3-9D0796951DBC}" vid="{FFC159E6-A134-46E7-B1A0-C306E39FC295}"/>
    </a:ext>
  </a:extLst>
</a:theme>
</file>

<file path=ppt/theme/theme2.xml><?xml version="1.0" encoding="utf-8"?>
<a:theme xmlns:a="http://schemas.openxmlformats.org/drawingml/2006/main" name="Office Theme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digital blue tunnel presentation (widescreen)</Template>
  <TotalTime>34086</TotalTime>
  <Words>2716</Words>
  <Application>Microsoft Office PowerPoint</Application>
  <PresentationFormat>Custom</PresentationFormat>
  <Paragraphs>245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3" baseType="lpstr">
      <vt:lpstr>Arial</vt:lpstr>
      <vt:lpstr>Corbel</vt:lpstr>
      <vt:lpstr>Wingdings</vt:lpstr>
      <vt:lpstr>Digital Blue Tunnel 16x9</vt:lpstr>
      <vt:lpstr>Dynamics 365 FO Development</vt:lpstr>
      <vt:lpstr>Arquitectura</vt:lpstr>
      <vt:lpstr>Arquitectura</vt:lpstr>
      <vt:lpstr>Setting up the environment and VSTS</vt:lpstr>
      <vt:lpstr>Visual Studio Team Services</vt:lpstr>
      <vt:lpstr>Visual Studio Team Services</vt:lpstr>
      <vt:lpstr>Introduccion a Desarrollo en VS y AOT</vt:lpstr>
      <vt:lpstr>Customization and Overlayering</vt:lpstr>
      <vt:lpstr>Visual Studio y AOT</vt:lpstr>
      <vt:lpstr>Creacion de proyectos y modelos</vt:lpstr>
      <vt:lpstr>Introduccion a X++</vt:lpstr>
      <vt:lpstr>Datos primitive, variables y EDT</vt:lpstr>
      <vt:lpstr>EDTs</vt:lpstr>
      <vt:lpstr>Extensions, customization y overlayering</vt:lpstr>
      <vt:lpstr>Extensions, customization y overlayering</vt:lpstr>
      <vt:lpstr>Objetos que se pueden extender</vt:lpstr>
      <vt:lpstr>Tablas</vt:lpstr>
      <vt:lpstr>Tablas</vt:lpstr>
      <vt:lpstr>Laboratorio 1</vt:lpstr>
      <vt:lpstr>Formularios</vt:lpstr>
      <vt:lpstr>Details Master</vt:lpstr>
      <vt:lpstr>Details Transaction</vt:lpstr>
      <vt:lpstr>Dialog</vt:lpstr>
      <vt:lpstr>Drop Dialog</vt:lpstr>
      <vt:lpstr>FactBoxes</vt:lpstr>
      <vt:lpstr>ListPage</vt:lpstr>
      <vt:lpstr>SimpleList</vt:lpstr>
      <vt:lpstr>Table of Contents</vt:lpstr>
      <vt:lpstr>Laboratorio 2</vt:lpstr>
      <vt:lpstr>Classes</vt:lpstr>
      <vt:lpstr>Personalización de Código (Overlayering) y extension de classes</vt:lpstr>
      <vt:lpstr>Personalización de código (Overlayering) y extension de classes</vt:lpstr>
      <vt:lpstr>Modificación por medio de Event handlers y Delegados</vt:lpstr>
      <vt:lpstr>Laboratorio 3</vt:lpstr>
      <vt:lpstr>SSRS Creación y extension de Reportes</vt:lpstr>
      <vt:lpstr>Tipos de tablas</vt:lpstr>
      <vt:lpstr>Formas de obtener datasources en reporte</vt:lpstr>
      <vt:lpstr>Clases Data Provider</vt:lpstr>
      <vt:lpstr>Clases Data Provider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Dinaymics 365 FO Development</dc:title>
  <dc:creator>Iván Hernández Díaz</dc:creator>
  <cp:lastModifiedBy>Iván de Jesús Hernández Díaz</cp:lastModifiedBy>
  <cp:revision>1</cp:revision>
  <dcterms:created xsi:type="dcterms:W3CDTF">2018-06-17T21:38:11Z</dcterms:created>
  <dcterms:modified xsi:type="dcterms:W3CDTF">2020-10-18T23:15:26Z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